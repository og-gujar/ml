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69E6031-E8E6-4715-A3ED-06F52E472872}">
  <a:tblStyle styleId="{B69E6031-E8E6-4715-A3ED-06F52E472872}"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1426" y="7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600"/>
              <a:buFont typeface="Times New Roman"/>
              <a:buNone/>
            </a:pPr>
            <a:endParaRPr sz="1600" b="0" i="0" u="none" strike="noStrike" cap="none">
              <a:solidFill>
                <a:schemeClr val="lt1"/>
              </a:solidFill>
              <a:latin typeface="Arial"/>
              <a:ea typeface="Arial"/>
              <a:cs typeface="Arial"/>
              <a:sym typeface="Arial"/>
            </a:endParaRPr>
          </a:p>
        </p:txBody>
      </p:sp>
      <p:sp>
        <p:nvSpPr>
          <p:cNvPr id="4" name="Google Shape;4;n"/>
          <p:cNvSpPr txBox="1"/>
          <p:nvPr/>
        </p:nvSpPr>
        <p:spPr>
          <a:xfrm>
            <a:off x="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600"/>
              <a:buFont typeface="Times New Roman"/>
              <a:buNone/>
            </a:pPr>
            <a:endParaRPr sz="1600" b="0" i="0" u="none" strike="noStrike" cap="none">
              <a:solidFill>
                <a:schemeClr val="lt1"/>
              </a:solidFill>
              <a:latin typeface="Arial"/>
              <a:ea typeface="Arial"/>
              <a:cs typeface="Arial"/>
              <a:sym typeface="Arial"/>
            </a:endParaRPr>
          </a:p>
        </p:txBody>
      </p:sp>
      <p:sp>
        <p:nvSpPr>
          <p:cNvPr id="5" name="Google Shape;5;n"/>
          <p:cNvSpPr txBox="1"/>
          <p:nvPr/>
        </p:nvSpPr>
        <p:spPr>
          <a:xfrm>
            <a:off x="3884613"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600"/>
              <a:buFont typeface="Times New Roman"/>
              <a:buNone/>
            </a:pPr>
            <a:endParaRPr sz="1600" b="0" i="0" u="none" strike="noStrike" cap="none">
              <a:solidFill>
                <a:schemeClr val="lt1"/>
              </a:solidFill>
              <a:latin typeface="Arial"/>
              <a:ea typeface="Arial"/>
              <a:cs typeface="Arial"/>
              <a:sym typeface="Arial"/>
            </a:endParaRPr>
          </a:p>
        </p:txBody>
      </p:sp>
      <p:sp>
        <p:nvSpPr>
          <p:cNvPr id="6" name="Google Shape;6;n"/>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sq" cmpd="sng">
            <a:solidFill>
              <a:srgbClr val="000000"/>
            </a:solidFill>
            <a:prstDash val="solid"/>
            <a:miter lim="800000"/>
            <a:headEnd type="none" w="sm" len="sm"/>
            <a:tailEnd type="none" w="sm" len="sm"/>
          </a:ln>
        </p:spPr>
      </p:sp>
      <p:sp>
        <p:nvSpPr>
          <p:cNvPr id="7" name="Google Shape;7;n"/>
          <p:cNvSpPr txBox="1">
            <a:spLocks noGrp="1"/>
          </p:cNvSpPr>
          <p:nvPr>
            <p:ph type="body" idx="1"/>
          </p:nvPr>
        </p:nvSpPr>
        <p:spPr>
          <a:xfrm>
            <a:off x="685800" y="4343400"/>
            <a:ext cx="5484813" cy="4113213"/>
          </a:xfrm>
          <a:prstGeom prst="rect">
            <a:avLst/>
          </a:prstGeom>
          <a:noFill/>
          <a:ln>
            <a:noFill/>
          </a:ln>
        </p:spPr>
        <p:txBody>
          <a:bodyPr spcFirstLastPara="1" wrap="square" lIns="90000" tIns="46800" rIns="90000" bIns="46800" anchor="t" anchorCtr="0">
            <a:noAutofit/>
          </a:bodyPr>
          <a:lstStyle>
            <a:lvl1pPr marL="457200" marR="0" lvl="0"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8" name="Google Shape;8;n"/>
          <p:cNvSpPr txBox="1"/>
          <p:nvPr/>
        </p:nvSpPr>
        <p:spPr>
          <a:xfrm>
            <a:off x="0" y="8685213"/>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600"/>
              <a:buFont typeface="Times New Roman"/>
              <a:buNone/>
            </a:pPr>
            <a:endParaRPr sz="1600" b="0" i="0" u="none" strike="noStrike" cap="none">
              <a:solidFill>
                <a:schemeClr val="lt1"/>
              </a:solidFill>
              <a:latin typeface="Arial"/>
              <a:ea typeface="Arial"/>
              <a:cs typeface="Arial"/>
              <a:sym typeface="Arial"/>
            </a:endParaRPr>
          </a:p>
        </p:txBody>
      </p:sp>
      <p:sp>
        <p:nvSpPr>
          <p:cNvPr id="9" name="Google Shape;9;n"/>
          <p:cNvSpPr txBox="1">
            <a:spLocks noGrp="1"/>
          </p:cNvSpPr>
          <p:nvPr>
            <p:ph type="sldNum" idx="12"/>
          </p:nvPr>
        </p:nvSpPr>
        <p:spPr>
          <a:xfrm>
            <a:off x="3884613" y="8685213"/>
            <a:ext cx="2970212" cy="455612"/>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000000"/>
                </a:solidFill>
                <a:latin typeface="Arial"/>
                <a:ea typeface="Arial"/>
                <a:cs typeface="Arial"/>
                <a:sym typeface="Arial"/>
              </a:rPr>
              <a:t>‹#›</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343400"/>
            <a:ext cx="5484813" cy="4113213"/>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87" name="Google Shape;87;p1: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4813" cy="4113213"/>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111" name="Google Shape;111;p3: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343400"/>
            <a:ext cx="5484813" cy="4113213"/>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121" name="Google Shape;121;p4: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685800" y="4343400"/>
            <a:ext cx="5484813" cy="4113213"/>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131" name="Google Shape;131;p5: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txBox="1">
            <a:spLocks noGrp="1"/>
          </p:cNvSpPr>
          <p:nvPr>
            <p:ph type="body" idx="1"/>
          </p:nvPr>
        </p:nvSpPr>
        <p:spPr>
          <a:xfrm>
            <a:off x="685800" y="4343400"/>
            <a:ext cx="5484813" cy="4113213"/>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141" name="Google Shape;141;p6: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85800" y="4343400"/>
            <a:ext cx="5484813" cy="4113213"/>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152" name="Google Shape;152;p7: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685800" y="4343400"/>
            <a:ext cx="5484813" cy="4113213"/>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162" name="Google Shape;162;p8: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02c29c92a9_1_12: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02c29c92a9_1_12:notes"/>
          <p:cNvSpPr txBox="1">
            <a:spLocks noGrp="1"/>
          </p:cNvSpPr>
          <p:nvPr>
            <p:ph type="body" idx="1"/>
          </p:nvPr>
        </p:nvSpPr>
        <p:spPr>
          <a:xfrm>
            <a:off x="685800" y="4343400"/>
            <a:ext cx="5484900" cy="4113300"/>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173" name="Google Shape;173;g302c29c92a9_1_12:notes"/>
          <p:cNvSpPr txBox="1">
            <a:spLocks noGrp="1"/>
          </p:cNvSpPr>
          <p:nvPr>
            <p:ph type="sldNum" idx="12"/>
          </p:nvPr>
        </p:nvSpPr>
        <p:spPr>
          <a:xfrm>
            <a:off x="3884613" y="8685213"/>
            <a:ext cx="2970300" cy="455700"/>
          </a:xfrm>
          <a:prstGeom prst="rect">
            <a:avLst/>
          </a:prstGeom>
        </p:spPr>
        <p:txBody>
          <a:bodyPr spcFirstLastPara="1" wrap="square" lIns="90000" tIns="46800" rIns="90000" bIns="468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txBox="1">
            <a:spLocks noGrp="1"/>
          </p:cNvSpPr>
          <p:nvPr>
            <p:ph type="body" idx="1"/>
          </p:nvPr>
        </p:nvSpPr>
        <p:spPr>
          <a:xfrm>
            <a:off x="685800" y="4343400"/>
            <a:ext cx="5484813" cy="4113213"/>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179" name="Google Shape;179;p9: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0:notes"/>
          <p:cNvSpPr txBox="1">
            <a:spLocks noGrp="1"/>
          </p:cNvSpPr>
          <p:nvPr>
            <p:ph type="body" idx="1"/>
          </p:nvPr>
        </p:nvSpPr>
        <p:spPr>
          <a:xfrm>
            <a:off x="685800" y="4343400"/>
            <a:ext cx="5484813" cy="4113213"/>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189" name="Google Shape;189;p10: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1:notes"/>
          <p:cNvSpPr txBox="1">
            <a:spLocks noGrp="1"/>
          </p:cNvSpPr>
          <p:nvPr>
            <p:ph type="body" idx="1"/>
          </p:nvPr>
        </p:nvSpPr>
        <p:spPr>
          <a:xfrm>
            <a:off x="685800" y="4343400"/>
            <a:ext cx="5484813" cy="4113213"/>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199" name="Google Shape;199;p11: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02c29c92a9_1_3: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02c29c92a9_1_3:notes"/>
          <p:cNvSpPr txBox="1">
            <a:spLocks noGrp="1"/>
          </p:cNvSpPr>
          <p:nvPr>
            <p:ph type="body" idx="1"/>
          </p:nvPr>
        </p:nvSpPr>
        <p:spPr>
          <a:xfrm>
            <a:off x="685800" y="4343400"/>
            <a:ext cx="5484900" cy="4113300"/>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209" name="Google Shape;209;g302c29c92a9_1_3:notes"/>
          <p:cNvSpPr txBox="1">
            <a:spLocks noGrp="1"/>
          </p:cNvSpPr>
          <p:nvPr>
            <p:ph type="sldNum" idx="12"/>
          </p:nvPr>
        </p:nvSpPr>
        <p:spPr>
          <a:xfrm>
            <a:off x="3884613" y="8685213"/>
            <a:ext cx="2970300" cy="455700"/>
          </a:xfrm>
          <a:prstGeom prst="rect">
            <a:avLst/>
          </a:prstGeom>
        </p:spPr>
        <p:txBody>
          <a:bodyPr spcFirstLastPara="1" wrap="square" lIns="90000" tIns="46800" rIns="90000" bIns="468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2:notes"/>
          <p:cNvSpPr txBox="1">
            <a:spLocks noGrp="1"/>
          </p:cNvSpPr>
          <p:nvPr>
            <p:ph type="body" idx="1"/>
          </p:nvPr>
        </p:nvSpPr>
        <p:spPr>
          <a:xfrm>
            <a:off x="685800" y="4343400"/>
            <a:ext cx="5484813" cy="4113213"/>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215" name="Google Shape;215;p12: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3:notes"/>
          <p:cNvSpPr txBox="1">
            <a:spLocks noGrp="1"/>
          </p:cNvSpPr>
          <p:nvPr>
            <p:ph type="body" idx="1"/>
          </p:nvPr>
        </p:nvSpPr>
        <p:spPr>
          <a:xfrm>
            <a:off x="685800" y="4343400"/>
            <a:ext cx="5484813" cy="4113213"/>
          </a:xfrm>
          <a:prstGeom prst="rect">
            <a:avLst/>
          </a:prstGeom>
        </p:spPr>
        <p:txBody>
          <a:bodyPr spcFirstLastPara="1" wrap="square" lIns="90000" tIns="46800" rIns="90000" bIns="46800" anchor="t" anchorCtr="0">
            <a:noAutofit/>
          </a:bodyPr>
          <a:lstStyle/>
          <a:p>
            <a:pPr marL="0" lvl="0" indent="0" algn="l" rtl="0">
              <a:spcBef>
                <a:spcPts val="360"/>
              </a:spcBef>
              <a:spcAft>
                <a:spcPts val="0"/>
              </a:spcAft>
              <a:buNone/>
            </a:pPr>
            <a:endParaRPr/>
          </a:p>
        </p:txBody>
      </p:sp>
      <p:sp>
        <p:nvSpPr>
          <p:cNvPr id="223" name="Google Shape;223;p13: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0"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0"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0"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0"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0"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0"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0"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 name="Google Shape;23;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0"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0"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0"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0"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0"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0"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0"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9" name="Google Shape;29;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0"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0"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0"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0"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0"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0"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0"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5" name="Google Shape;35;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0"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0"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0"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0"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0"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0"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0"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0"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0"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0"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0"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0"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0"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0"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8" name="Google Shape;48;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9" name="Google Shape;49;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0"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0"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0"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0"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0"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0"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0"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6" name="Google Shape;56;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0"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0"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0"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0"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0"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0"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0"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 name="Google Shape;61;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2" name="Google Shape;62;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3" name="Google Shape;63;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0"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0"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0"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0"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0"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0"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0"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10"/>
          <p:cNvSpPr>
            <a:spLocks noGrp="1"/>
          </p:cNvSpPr>
          <p:nvPr>
            <p:ph type="pic" idx="2"/>
          </p:nvPr>
        </p:nvSpPr>
        <p:spPr>
          <a:xfrm>
            <a:off x="1792288" y="612775"/>
            <a:ext cx="5486400" cy="4114800"/>
          </a:xfrm>
          <a:prstGeom prst="rect">
            <a:avLst/>
          </a:prstGeom>
          <a:noFill/>
          <a:ln>
            <a:noFill/>
          </a:ln>
        </p:spPr>
      </p:sp>
      <p:sp>
        <p:nvSpPr>
          <p:cNvPr id="69" name="Google Shape;69;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0" name="Google Shape;70;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0"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0"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0"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0"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0"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0"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0"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6" name="Google Shape;7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0"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0"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0"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0"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0"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0"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0"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0"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0"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0"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0"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0"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0"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0"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
        <p:cNvGrpSpPr/>
        <p:nvPr/>
      </p:nvGrpSpPr>
      <p:grpSpPr>
        <a:xfrm>
          <a:off x="0" y="0"/>
          <a:ext cx="0" cy="0"/>
          <a:chOff x="0" y="0"/>
          <a:chExt cx="0" cy="0"/>
        </a:xfrm>
      </p:grpSpPr>
      <p:sp>
        <p:nvSpPr>
          <p:cNvPr id="11" name="Google Shape;11;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6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6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6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6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6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6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6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600" b="0" i="0" u="none" strike="noStrike" cap="none">
                <a:solidFill>
                  <a:schemeClr val="lt1"/>
                </a:solidFill>
                <a:latin typeface="Arial"/>
                <a:ea typeface="Arial"/>
                <a:cs typeface="Arial"/>
                <a:sym typeface="Arial"/>
              </a:defRPr>
            </a:lvl9pPr>
          </a:lstStyle>
          <a:p>
            <a:endParaRPr/>
          </a:p>
        </p:txBody>
      </p:sp>
      <p:sp>
        <p:nvSpPr>
          <p:cNvPr id="14" name="Google Shape;14;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6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6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6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6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6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6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6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600" b="0" i="0" u="none" strike="noStrike" cap="none">
                <a:solidFill>
                  <a:schemeClr val="lt1"/>
                </a:solidFill>
                <a:latin typeface="Arial"/>
                <a:ea typeface="Arial"/>
                <a:cs typeface="Arial"/>
                <a:sym typeface="Arial"/>
              </a:defRPr>
            </a:lvl9pPr>
          </a:lstStyle>
          <a:p>
            <a:endParaRPr/>
          </a:p>
        </p:txBody>
      </p:sp>
      <p:sp>
        <p:nvSpPr>
          <p:cNvPr id="15" name="Google Shape;15;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Arial"/>
                <a:ea typeface="Arial"/>
                <a:cs typeface="Arial"/>
                <a:sym typeface="Arial"/>
              </a:defRPr>
            </a:lvl1pPr>
            <a:lvl2pPr marL="0" marR="0" lvl="1" indent="0" algn="r" rtl="0">
              <a:spcBef>
                <a:spcPts val="0"/>
              </a:spcBef>
              <a:spcAft>
                <a:spcPts val="0"/>
              </a:spcAft>
              <a:buNone/>
              <a:defRPr sz="1200" b="0" i="0" u="none" strike="noStrike" cap="none">
                <a:solidFill>
                  <a:srgbClr val="898989"/>
                </a:solidFill>
                <a:latin typeface="Arial"/>
                <a:ea typeface="Arial"/>
                <a:cs typeface="Arial"/>
                <a:sym typeface="Arial"/>
              </a:defRPr>
            </a:lvl2pPr>
            <a:lvl3pPr marL="0" marR="0" lvl="2" indent="0" algn="r" rtl="0">
              <a:spcBef>
                <a:spcPts val="0"/>
              </a:spcBef>
              <a:spcAft>
                <a:spcPts val="0"/>
              </a:spcAft>
              <a:buNone/>
              <a:defRPr sz="1200" b="0" i="0" u="none" strike="noStrike" cap="none">
                <a:solidFill>
                  <a:srgbClr val="898989"/>
                </a:solidFill>
                <a:latin typeface="Arial"/>
                <a:ea typeface="Arial"/>
                <a:cs typeface="Arial"/>
                <a:sym typeface="Arial"/>
              </a:defRPr>
            </a:lvl3pPr>
            <a:lvl4pPr marL="0" marR="0" lvl="3" indent="0" algn="r" rtl="0">
              <a:spcBef>
                <a:spcPts val="0"/>
              </a:spcBef>
              <a:spcAft>
                <a:spcPts val="0"/>
              </a:spcAft>
              <a:buNone/>
              <a:defRPr sz="1200" b="0" i="0" u="none" strike="noStrike" cap="none">
                <a:solidFill>
                  <a:srgbClr val="898989"/>
                </a:solidFill>
                <a:latin typeface="Arial"/>
                <a:ea typeface="Arial"/>
                <a:cs typeface="Arial"/>
                <a:sym typeface="Arial"/>
              </a:defRPr>
            </a:lvl4pPr>
            <a:lvl5pPr marL="0" marR="0" lvl="4" indent="0" algn="r" rtl="0">
              <a:spcBef>
                <a:spcPts val="0"/>
              </a:spcBef>
              <a:spcAft>
                <a:spcPts val="0"/>
              </a:spcAft>
              <a:buNone/>
              <a:defRPr sz="1200" b="0" i="0" u="none" strike="noStrike" cap="none">
                <a:solidFill>
                  <a:srgbClr val="898989"/>
                </a:solidFill>
                <a:latin typeface="Arial"/>
                <a:ea typeface="Arial"/>
                <a:cs typeface="Arial"/>
                <a:sym typeface="Arial"/>
              </a:defRPr>
            </a:lvl5pPr>
            <a:lvl6pPr marL="0" marR="0" lvl="5" indent="0" algn="r" rtl="0">
              <a:spcBef>
                <a:spcPts val="0"/>
              </a:spcBef>
              <a:spcAft>
                <a:spcPts val="0"/>
              </a:spcAft>
              <a:buNone/>
              <a:defRPr sz="1200" b="0" i="0" u="none" strike="noStrike" cap="none">
                <a:solidFill>
                  <a:srgbClr val="898989"/>
                </a:solidFill>
                <a:latin typeface="Arial"/>
                <a:ea typeface="Arial"/>
                <a:cs typeface="Arial"/>
                <a:sym typeface="Arial"/>
              </a:defRPr>
            </a:lvl6pPr>
            <a:lvl7pPr marL="0" marR="0" lvl="6" indent="0" algn="r" rtl="0">
              <a:spcBef>
                <a:spcPts val="0"/>
              </a:spcBef>
              <a:spcAft>
                <a:spcPts val="0"/>
              </a:spcAft>
              <a:buNone/>
              <a:defRPr sz="1200" b="0" i="0" u="none" strike="noStrike" cap="none">
                <a:solidFill>
                  <a:srgbClr val="898989"/>
                </a:solidFill>
                <a:latin typeface="Arial"/>
                <a:ea typeface="Arial"/>
                <a:cs typeface="Arial"/>
                <a:sym typeface="Arial"/>
              </a:defRPr>
            </a:lvl7pPr>
            <a:lvl8pPr marL="0" marR="0" lvl="7" indent="0" algn="r" rtl="0">
              <a:spcBef>
                <a:spcPts val="0"/>
              </a:spcBef>
              <a:spcAft>
                <a:spcPts val="0"/>
              </a:spcAft>
              <a:buNone/>
              <a:defRPr sz="1200" b="0" i="0" u="none" strike="noStrike" cap="none">
                <a:solidFill>
                  <a:srgbClr val="898989"/>
                </a:solidFill>
                <a:latin typeface="Arial"/>
                <a:ea typeface="Arial"/>
                <a:cs typeface="Arial"/>
                <a:sym typeface="Arial"/>
              </a:defRPr>
            </a:lvl8pPr>
            <a:lvl9pPr marL="0" marR="0" lvl="8" indent="0" algn="r" rtl="0">
              <a:spcBef>
                <a:spcPts val="0"/>
              </a:spcBef>
              <a:spcAft>
                <a:spcPts val="0"/>
              </a:spcAft>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9/11/2024</a:t>
            </a:r>
            <a:endParaRPr/>
          </a:p>
        </p:txBody>
      </p:sp>
      <p:sp>
        <p:nvSpPr>
          <p:cNvPr id="90" name="Google Shape;90;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PCCOER                                                     Computer Engineering</a:t>
            </a:r>
            <a:endParaRPr/>
          </a:p>
        </p:txBody>
      </p:sp>
      <p:sp>
        <p:nvSpPr>
          <p:cNvPr id="91" name="Google Shape;91;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92" name="Google Shape;92;p13"/>
          <p:cNvSpPr/>
          <p:nvPr/>
        </p:nvSpPr>
        <p:spPr>
          <a:xfrm>
            <a:off x="2286000" y="357167"/>
            <a:ext cx="4572000" cy="885371"/>
          </a:xfrm>
          <a:prstGeom prst="rect">
            <a:avLst/>
          </a:prstGeom>
          <a:noFill/>
          <a:ln>
            <a:noFill/>
          </a:ln>
        </p:spPr>
        <p:txBody>
          <a:bodyPr spcFirstLastPara="1" wrap="square" lIns="91425" tIns="45700" rIns="91425" bIns="45700" anchor="t" anchorCtr="0">
            <a:noAutofit/>
          </a:bodyPr>
          <a:lstStyle/>
          <a:p>
            <a:pPr marL="342900" marR="0" lvl="0" indent="-341313" algn="ctr" rtl="0">
              <a:lnSpc>
                <a:spcPct val="90000"/>
              </a:lnSpc>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A  SEMINAR PRESENTATION</a:t>
            </a:r>
            <a:endParaRPr/>
          </a:p>
          <a:p>
            <a:pPr marL="342900" marR="0" lvl="0" indent="-341313" algn="ctr" rtl="0">
              <a:lnSpc>
                <a:spcPct val="90000"/>
              </a:lnSpc>
              <a:spcBef>
                <a:spcPts val="500"/>
              </a:spcBef>
              <a:spcAft>
                <a:spcPts val="0"/>
              </a:spcAft>
              <a:buNone/>
            </a:pPr>
            <a:r>
              <a:rPr lang="en-US" sz="1600" b="1" i="0" u="none" strike="noStrike" cap="none">
                <a:solidFill>
                  <a:srgbClr val="000000"/>
                </a:solidFill>
                <a:latin typeface="Times New Roman"/>
                <a:ea typeface="Times New Roman"/>
                <a:cs typeface="Times New Roman"/>
                <a:sym typeface="Times New Roman"/>
              </a:rPr>
              <a:t>ON</a:t>
            </a:r>
            <a:endParaRPr/>
          </a:p>
          <a:p>
            <a:pPr marL="342900" marR="0" lvl="0" indent="-341313" algn="ctr" rtl="0">
              <a:lnSpc>
                <a:spcPct val="90000"/>
              </a:lnSpc>
              <a:spcBef>
                <a:spcPts val="500"/>
              </a:spcBef>
              <a:spcAft>
                <a:spcPts val="0"/>
              </a:spcAft>
              <a:buClr>
                <a:srgbClr val="000000"/>
              </a:buClr>
              <a:buSzPts val="1280"/>
              <a:buFont typeface="Times New Roman"/>
              <a:buNone/>
            </a:pPr>
            <a:r>
              <a:rPr lang="en-US" sz="1600" b="1" i="0" u="none" strike="noStrike" cap="none">
                <a:solidFill>
                  <a:srgbClr val="000000"/>
                </a:solidFill>
                <a:latin typeface="Times New Roman"/>
                <a:ea typeface="Times New Roman"/>
                <a:cs typeface="Times New Roman"/>
                <a:sym typeface="Times New Roman"/>
              </a:rPr>
              <a:t> “</a:t>
            </a:r>
            <a:r>
              <a:rPr lang="en-US" sz="1600" b="1">
                <a:latin typeface="Times New Roman"/>
                <a:ea typeface="Times New Roman"/>
                <a:cs typeface="Times New Roman"/>
                <a:sym typeface="Times New Roman"/>
              </a:rPr>
              <a:t>WASTE SEGREGATION SYSTEM</a:t>
            </a:r>
            <a:r>
              <a:rPr lang="en-US" sz="1600" b="1" i="0" u="none" strike="noStrike" cap="none">
                <a:solidFill>
                  <a:srgbClr val="000000"/>
                </a:solidFill>
                <a:latin typeface="Times New Roman"/>
                <a:ea typeface="Times New Roman"/>
                <a:cs typeface="Times New Roman"/>
                <a:sym typeface="Times New Roman"/>
              </a:rPr>
              <a:t>”</a:t>
            </a:r>
            <a:endParaRPr sz="8000" b="0" i="0" u="none" strike="noStrike" cap="none">
              <a:solidFill>
                <a:schemeClr val="dk1"/>
              </a:solidFill>
              <a:latin typeface="Times New Roman"/>
              <a:ea typeface="Times New Roman"/>
              <a:cs typeface="Times New Roman"/>
              <a:sym typeface="Times New Roman"/>
            </a:endParaRPr>
          </a:p>
        </p:txBody>
      </p:sp>
      <p:pic>
        <p:nvPicPr>
          <p:cNvPr id="93" name="Google Shape;93;p13" descr="PCCOE&amp;R Logo"/>
          <p:cNvPicPr preferRelativeResize="0"/>
          <p:nvPr/>
        </p:nvPicPr>
        <p:blipFill rotWithShape="1">
          <a:blip r:embed="rId3">
            <a:alphaModFix/>
          </a:blip>
          <a:srcRect/>
          <a:stretch/>
        </p:blipFill>
        <p:spPr>
          <a:xfrm>
            <a:off x="4000496" y="1500174"/>
            <a:ext cx="1160780" cy="1000132"/>
          </a:xfrm>
          <a:prstGeom prst="rect">
            <a:avLst/>
          </a:prstGeom>
          <a:noFill/>
          <a:ln>
            <a:noFill/>
          </a:ln>
        </p:spPr>
      </p:pic>
      <p:sp>
        <p:nvSpPr>
          <p:cNvPr id="94" name="Google Shape;94;p13"/>
          <p:cNvSpPr/>
          <p:nvPr/>
        </p:nvSpPr>
        <p:spPr>
          <a:xfrm>
            <a:off x="2286000" y="2796776"/>
            <a:ext cx="4572000" cy="1264449"/>
          </a:xfrm>
          <a:prstGeom prst="rect">
            <a:avLst/>
          </a:prstGeom>
          <a:noFill/>
          <a:ln>
            <a:noFill/>
          </a:ln>
        </p:spPr>
        <p:txBody>
          <a:bodyPr spcFirstLastPara="1" wrap="square" lIns="91425" tIns="45700" rIns="91425" bIns="45700" anchor="t" anchorCtr="0">
            <a:noAutofit/>
          </a:bodyPr>
          <a:lstStyle/>
          <a:p>
            <a:pPr marL="342900" marR="0" lvl="0" indent="-341313" algn="ctr" rtl="0">
              <a:lnSpc>
                <a:spcPct val="90000"/>
              </a:lnSpc>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PRESENTED BY </a:t>
            </a:r>
            <a:endParaRPr/>
          </a:p>
          <a:p>
            <a:pPr marL="342900" marR="0" lvl="0" indent="-341313" algn="ctr" rtl="0">
              <a:lnSpc>
                <a:spcPct val="90000"/>
              </a:lnSpc>
              <a:spcBef>
                <a:spcPts val="500"/>
              </a:spcBef>
              <a:spcAft>
                <a:spcPts val="0"/>
              </a:spcAft>
              <a:buNone/>
            </a:pPr>
            <a:r>
              <a:rPr lang="en-US" sz="1600" b="1" i="0" u="none" strike="noStrike" cap="none">
                <a:solidFill>
                  <a:srgbClr val="000000"/>
                </a:solidFill>
                <a:latin typeface="Times New Roman"/>
                <a:ea typeface="Times New Roman"/>
                <a:cs typeface="Times New Roman"/>
                <a:sym typeface="Times New Roman"/>
              </a:rPr>
              <a:t>Roll No -  </a:t>
            </a:r>
            <a:r>
              <a:rPr lang="en-US" sz="1600" b="1">
                <a:latin typeface="Times New Roman"/>
                <a:ea typeface="Times New Roman"/>
                <a:cs typeface="Times New Roman"/>
                <a:sym typeface="Times New Roman"/>
              </a:rPr>
              <a:t>Om Sanjay gujar</a:t>
            </a:r>
            <a:endParaRPr/>
          </a:p>
          <a:p>
            <a:pPr marL="0" marR="0" lvl="0" indent="0" algn="ctr" rtl="0">
              <a:lnSpc>
                <a:spcPct val="90000"/>
              </a:lnSpc>
              <a:spcBef>
                <a:spcPts val="0"/>
              </a:spcBef>
              <a:spcAft>
                <a:spcPts val="0"/>
              </a:spcAft>
              <a:buClr>
                <a:srgbClr val="366092"/>
              </a:buClr>
              <a:buSzPts val="1600"/>
              <a:buFont typeface="Times New Roman"/>
              <a:buNone/>
            </a:pPr>
            <a:endParaRPr sz="1600" b="0" i="0" u="none" strike="noStrike" cap="none">
              <a:solidFill>
                <a:schemeClr val="dk1"/>
              </a:solidFill>
              <a:latin typeface="Times New Roman"/>
              <a:ea typeface="Times New Roman"/>
              <a:cs typeface="Times New Roman"/>
              <a:sym typeface="Times New Roman"/>
            </a:endParaRPr>
          </a:p>
          <a:p>
            <a:pPr marL="0" marR="0" lvl="0" indent="0" algn="ctr" rtl="0">
              <a:lnSpc>
                <a:spcPct val="90000"/>
              </a:lnSpc>
              <a:spcBef>
                <a:spcPts val="0"/>
              </a:spcBef>
              <a:spcAft>
                <a:spcPts val="0"/>
              </a:spcAft>
              <a:buClr>
                <a:srgbClr val="366092"/>
              </a:buClr>
              <a:buSzPts val="1600"/>
              <a:buFont typeface="Times New Roman"/>
              <a:buNone/>
            </a:pPr>
            <a:r>
              <a:rPr lang="en-US" sz="1600" b="0" i="0" u="none" strike="noStrike" cap="none">
                <a:solidFill>
                  <a:schemeClr val="dk1"/>
                </a:solidFill>
                <a:latin typeface="Times New Roman"/>
                <a:ea typeface="Times New Roman"/>
                <a:cs typeface="Times New Roman"/>
                <a:sym typeface="Times New Roman"/>
              </a:rPr>
              <a:t>Guided By:</a:t>
            </a:r>
            <a:endParaRPr/>
          </a:p>
          <a:p>
            <a:pPr marL="0" marR="0" lvl="0" indent="0" algn="ctr" rtl="0">
              <a:lnSpc>
                <a:spcPct val="90000"/>
              </a:lnSpc>
              <a:spcBef>
                <a:spcPts val="0"/>
              </a:spcBef>
              <a:spcAft>
                <a:spcPts val="0"/>
              </a:spcAft>
              <a:buClr>
                <a:srgbClr val="366092"/>
              </a:buClr>
              <a:buSzPts val="1600"/>
              <a:buFont typeface="Times New Roman"/>
              <a:buNone/>
            </a:pPr>
            <a:r>
              <a:rPr lang="en-US" sz="1600" b="0" i="0" u="none" strike="noStrike" cap="none">
                <a:solidFill>
                  <a:schemeClr val="dk1"/>
                </a:solidFill>
                <a:latin typeface="Times New Roman"/>
                <a:ea typeface="Times New Roman"/>
                <a:cs typeface="Times New Roman"/>
                <a:sym typeface="Times New Roman"/>
              </a:rPr>
              <a:t>Prof</a:t>
            </a:r>
            <a:r>
              <a:rPr lang="en-US" sz="1600">
                <a:solidFill>
                  <a:schemeClr val="dk1"/>
                </a:solidFill>
                <a:latin typeface="Times New Roman"/>
                <a:ea typeface="Times New Roman"/>
                <a:cs typeface="Times New Roman"/>
                <a:sym typeface="Times New Roman"/>
              </a:rPr>
              <a:t>.Dr.Mahendra Salunke</a:t>
            </a:r>
            <a:endParaRPr sz="1600" b="0" i="0" u="none" strike="noStrike" cap="none">
              <a:solidFill>
                <a:schemeClr val="dk1"/>
              </a:solidFill>
              <a:latin typeface="Times New Roman"/>
              <a:ea typeface="Times New Roman"/>
              <a:cs typeface="Times New Roman"/>
              <a:sym typeface="Times New Roman"/>
            </a:endParaRPr>
          </a:p>
        </p:txBody>
      </p:sp>
      <p:sp>
        <p:nvSpPr>
          <p:cNvPr id="95" name="Google Shape;95;p13"/>
          <p:cNvSpPr/>
          <p:nvPr/>
        </p:nvSpPr>
        <p:spPr>
          <a:xfrm>
            <a:off x="571472" y="4500570"/>
            <a:ext cx="7858180" cy="913070"/>
          </a:xfrm>
          <a:prstGeom prst="rect">
            <a:avLst/>
          </a:prstGeom>
          <a:noFill/>
          <a:ln>
            <a:noFill/>
          </a:ln>
        </p:spPr>
        <p:txBody>
          <a:bodyPr spcFirstLastPara="1" wrap="square" lIns="91425" tIns="45700" rIns="91425" bIns="45700" anchor="t" anchorCtr="0">
            <a:noAutofit/>
          </a:bodyPr>
          <a:lstStyle/>
          <a:p>
            <a:pPr marL="342900" marR="0" lvl="0" indent="-341313" algn="ctr" rtl="0">
              <a:lnSpc>
                <a:spcPct val="9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Academic Year:2024-2025</a:t>
            </a:r>
            <a:r>
              <a:rPr lang="en-US" sz="1800" b="0" i="0" u="none" strike="noStrike" cap="none">
                <a:solidFill>
                  <a:srgbClr val="000000"/>
                </a:solidFill>
                <a:latin typeface="Times New Roman"/>
                <a:ea typeface="Times New Roman"/>
                <a:cs typeface="Times New Roman"/>
                <a:sym typeface="Times New Roman"/>
              </a:rPr>
              <a:t> </a:t>
            </a:r>
            <a:endParaRPr sz="1800" b="0" i="0" u="none" strike="noStrike" cap="none">
              <a:solidFill>
                <a:srgbClr val="000000"/>
              </a:solidFill>
              <a:latin typeface="Times New Roman"/>
              <a:ea typeface="Times New Roman"/>
              <a:cs typeface="Times New Roman"/>
              <a:sym typeface="Times New Roman"/>
            </a:endParaRPr>
          </a:p>
          <a:p>
            <a:pPr marL="342900" marR="0" lvl="0" indent="-341313" algn="ctr" rtl="0">
              <a:lnSpc>
                <a:spcPct val="90000"/>
              </a:lnSpc>
              <a:spcBef>
                <a:spcPts val="500"/>
              </a:spcBef>
              <a:spcAft>
                <a:spcPts val="0"/>
              </a:spcAft>
              <a:buNone/>
            </a:pPr>
            <a:r>
              <a:rPr lang="en-US" sz="1600" b="1" i="0" u="none" strike="noStrike" cap="none">
                <a:solidFill>
                  <a:srgbClr val="000000"/>
                </a:solidFill>
                <a:latin typeface="Times New Roman"/>
                <a:ea typeface="Times New Roman"/>
                <a:cs typeface="Times New Roman"/>
                <a:sym typeface="Times New Roman"/>
              </a:rPr>
              <a:t>DEPARTMENT OF COMPUTER ENGINEERING</a:t>
            </a:r>
            <a:endParaRPr/>
          </a:p>
          <a:p>
            <a:pPr marL="342900" marR="0" lvl="0" indent="-341313" algn="ctr" rtl="0">
              <a:lnSpc>
                <a:spcPct val="90000"/>
              </a:lnSpc>
              <a:spcBef>
                <a:spcPts val="500"/>
              </a:spcBef>
              <a:spcAft>
                <a:spcPts val="0"/>
              </a:spcAft>
              <a:buNone/>
            </a:pPr>
            <a:r>
              <a:rPr lang="en-US" sz="1600" b="1" i="0" u="none" strike="noStrike" cap="none">
                <a:solidFill>
                  <a:srgbClr val="000000"/>
                </a:solidFill>
                <a:latin typeface="Times New Roman"/>
                <a:ea typeface="Times New Roman"/>
                <a:cs typeface="Times New Roman"/>
                <a:sym typeface="Times New Roman"/>
              </a:rPr>
              <a:t>PIMPRI CHINCHWAD COLLEGE OF ENGINEERING &amp; RESEARCH PUNE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50000"/>
              </a:lnSpc>
              <a:spcBef>
                <a:spcPts val="0"/>
              </a:spcBef>
              <a:spcAft>
                <a:spcPts val="0"/>
              </a:spcAft>
              <a:buNone/>
            </a:pPr>
            <a:r>
              <a:rPr lang="en-US" sz="3200" b="1">
                <a:latin typeface="Times New Roman"/>
                <a:ea typeface="Times New Roman"/>
                <a:cs typeface="Times New Roman"/>
                <a:sym typeface="Times New Roman"/>
              </a:rPr>
              <a:t>INTRODUCTION</a:t>
            </a:r>
            <a:endParaRPr sz="3200" b="1"/>
          </a:p>
        </p:txBody>
      </p:sp>
      <p:pic>
        <p:nvPicPr>
          <p:cNvPr id="114" name="Google Shape;114;p15" descr="PCCOE&amp;R Logo"/>
          <p:cNvPicPr preferRelativeResize="0"/>
          <p:nvPr/>
        </p:nvPicPr>
        <p:blipFill rotWithShape="1">
          <a:blip r:embed="rId3">
            <a:alphaModFix/>
          </a:blip>
          <a:srcRect/>
          <a:stretch/>
        </p:blipFill>
        <p:spPr>
          <a:xfrm>
            <a:off x="7715272" y="285728"/>
            <a:ext cx="1160780" cy="817880"/>
          </a:xfrm>
          <a:prstGeom prst="rect">
            <a:avLst/>
          </a:prstGeom>
          <a:noFill/>
          <a:ln>
            <a:noFill/>
          </a:ln>
        </p:spPr>
      </p:pic>
      <p:sp>
        <p:nvSpPr>
          <p:cNvPr id="115" name="Google Shape;115;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9/11/2024</a:t>
            </a:r>
            <a:endParaRPr/>
          </a:p>
        </p:txBody>
      </p:sp>
      <p:sp>
        <p:nvSpPr>
          <p:cNvPr id="116" name="Google Shape;11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117" name="Google Shape;11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PCCOER                                                     Computer Engineering</a:t>
            </a:r>
            <a:endParaRPr/>
          </a:p>
        </p:txBody>
      </p:sp>
      <p:sp>
        <p:nvSpPr>
          <p:cNvPr id="118" name="Google Shape;118;p15"/>
          <p:cNvSpPr txBox="1"/>
          <p:nvPr/>
        </p:nvSpPr>
        <p:spPr>
          <a:xfrm>
            <a:off x="523250" y="1577750"/>
            <a:ext cx="7987800" cy="2339700"/>
          </a:xfrm>
          <a:prstGeom prst="rect">
            <a:avLst/>
          </a:prstGeom>
          <a:noFill/>
          <a:ln>
            <a:noFill/>
          </a:ln>
        </p:spPr>
        <p:txBody>
          <a:bodyPr spcFirstLastPara="1" wrap="square" lIns="91425" tIns="91425" rIns="91425" bIns="91425" anchor="t" anchorCtr="0">
            <a:spAutoFit/>
          </a:bodyPr>
          <a:lstStyle/>
          <a:p>
            <a:pPr marL="0" lvl="0" indent="0" algn="just" rtl="0">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This paper presents a comprehensive overview of waste segregation using (IoT). Smart bins with many sensors, including moisture, infrared, and ultrasonic ones, connectivity elements like power supply and battery, make up the Internet of Things-based trash segregation  system </a:t>
            </a:r>
            <a:endParaRPr sz="2000">
              <a:solidFill>
                <a:schemeClr val="dk1"/>
              </a:solidFill>
              <a:latin typeface="Times New Roman"/>
              <a:ea typeface="Times New Roman"/>
              <a:cs typeface="Times New Roman"/>
              <a:sym typeface="Times New Roman"/>
            </a:endParaRPr>
          </a:p>
          <a:p>
            <a:pPr marL="0" lvl="0" indent="0" algn="just" rtl="0">
              <a:lnSpc>
                <a:spcPct val="150000"/>
              </a:lnSpc>
              <a:spcBef>
                <a:spcPts val="0"/>
              </a:spcBef>
              <a:spcAft>
                <a:spcPts val="0"/>
              </a:spcAft>
              <a:buNone/>
            </a:pP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b="1">
                <a:solidFill>
                  <a:srgbClr val="000000"/>
                </a:solidFill>
                <a:latin typeface="Times New Roman"/>
                <a:ea typeface="Times New Roman"/>
                <a:cs typeface="Times New Roman"/>
                <a:sym typeface="Times New Roman"/>
              </a:rPr>
              <a:t>LITERATURE SURVEY</a:t>
            </a:r>
            <a:endParaRPr sz="3200" b="1">
              <a:latin typeface="Times New Roman"/>
              <a:ea typeface="Times New Roman"/>
              <a:cs typeface="Times New Roman"/>
              <a:sym typeface="Times New Roman"/>
            </a:endParaRPr>
          </a:p>
        </p:txBody>
      </p:sp>
      <p:graphicFrame>
        <p:nvGraphicFramePr>
          <p:cNvPr id="124" name="Google Shape;124;p16"/>
          <p:cNvGraphicFramePr/>
          <p:nvPr/>
        </p:nvGraphicFramePr>
        <p:xfrm>
          <a:off x="968310" y="1273750"/>
          <a:ext cx="7272750" cy="5030945"/>
        </p:xfrm>
        <a:graphic>
          <a:graphicData uri="http://schemas.openxmlformats.org/drawingml/2006/table">
            <a:tbl>
              <a:tblPr firstRow="1" bandRow="1">
                <a:noFill/>
                <a:tableStyleId>{B69E6031-E8E6-4715-A3ED-06F52E472872}</a:tableStyleId>
              </a:tblPr>
              <a:tblGrid>
                <a:gridCol w="1454550">
                  <a:extLst>
                    <a:ext uri="{9D8B030D-6E8A-4147-A177-3AD203B41FA5}">
                      <a16:colId xmlns:a16="http://schemas.microsoft.com/office/drawing/2014/main" val="20000"/>
                    </a:ext>
                  </a:extLst>
                </a:gridCol>
                <a:gridCol w="1454550">
                  <a:extLst>
                    <a:ext uri="{9D8B030D-6E8A-4147-A177-3AD203B41FA5}">
                      <a16:colId xmlns:a16="http://schemas.microsoft.com/office/drawing/2014/main" val="20001"/>
                    </a:ext>
                  </a:extLst>
                </a:gridCol>
                <a:gridCol w="1454550">
                  <a:extLst>
                    <a:ext uri="{9D8B030D-6E8A-4147-A177-3AD203B41FA5}">
                      <a16:colId xmlns:a16="http://schemas.microsoft.com/office/drawing/2014/main" val="20002"/>
                    </a:ext>
                  </a:extLst>
                </a:gridCol>
                <a:gridCol w="1454550">
                  <a:extLst>
                    <a:ext uri="{9D8B030D-6E8A-4147-A177-3AD203B41FA5}">
                      <a16:colId xmlns:a16="http://schemas.microsoft.com/office/drawing/2014/main" val="20003"/>
                    </a:ext>
                  </a:extLst>
                </a:gridCol>
                <a:gridCol w="1454550">
                  <a:extLst>
                    <a:ext uri="{9D8B030D-6E8A-4147-A177-3AD203B41FA5}">
                      <a16:colId xmlns:a16="http://schemas.microsoft.com/office/drawing/2014/main" val="20004"/>
                    </a:ext>
                  </a:extLst>
                </a:gridCol>
              </a:tblGrid>
              <a:tr h="685600">
                <a:tc>
                  <a:txBody>
                    <a:bodyPr/>
                    <a:lstStyle/>
                    <a:p>
                      <a:pPr marL="0" marR="0" lvl="0" indent="0" algn="ctr" rtl="0">
                        <a:spcBef>
                          <a:spcPts val="0"/>
                        </a:spcBef>
                        <a:spcAft>
                          <a:spcPts val="0"/>
                        </a:spcAft>
                        <a:buNone/>
                      </a:pPr>
                      <a:endParaRPr sz="1200" b="1" u="none" strike="noStrike" cap="none">
                        <a:latin typeface="Times New Roman"/>
                        <a:ea typeface="Times New Roman"/>
                        <a:cs typeface="Times New Roman"/>
                        <a:sym typeface="Times New Roman"/>
                      </a:endParaRPr>
                    </a:p>
                    <a:p>
                      <a:pPr marL="0" marR="0" lvl="0" indent="0" algn="ctr" rtl="0">
                        <a:spcBef>
                          <a:spcPts val="0"/>
                        </a:spcBef>
                        <a:spcAft>
                          <a:spcPts val="0"/>
                        </a:spcAft>
                        <a:buNone/>
                      </a:pPr>
                      <a:r>
                        <a:rPr lang="en-US" sz="1200" b="1" u="none" strike="noStrike" cap="none">
                          <a:latin typeface="Times New Roman"/>
                          <a:ea typeface="Times New Roman"/>
                          <a:cs typeface="Times New Roman"/>
                          <a:sym typeface="Times New Roman"/>
                        </a:rPr>
                        <a:t>Research article</a:t>
                      </a:r>
                      <a:endParaRPr sz="1200" u="none" strike="noStrike" cap="none">
                        <a:latin typeface="Calibri"/>
                        <a:ea typeface="Calibri"/>
                        <a:cs typeface="Calibri"/>
                        <a:sym typeface="Calibri"/>
                      </a:endParaRPr>
                    </a:p>
                    <a:p>
                      <a:pPr marL="0" marR="0" lvl="0" indent="0" algn="ctr" rtl="0">
                        <a:spcBef>
                          <a:spcPts val="0"/>
                        </a:spcBef>
                        <a:spcAft>
                          <a:spcPts val="0"/>
                        </a:spcAft>
                        <a:buNone/>
                      </a:pPr>
                      <a:r>
                        <a:rPr lang="en-US" sz="1200" b="1" u="none" strike="noStrike" cap="none">
                          <a:latin typeface="Times New Roman"/>
                          <a:ea typeface="Times New Roman"/>
                          <a:cs typeface="Times New Roman"/>
                          <a:sym typeface="Times New Roman"/>
                        </a:rPr>
                        <a:t>(Author/Year)</a:t>
                      </a:r>
                      <a:endParaRPr sz="1200" u="none" strike="noStrike" cap="none">
                        <a:latin typeface="Calibri"/>
                        <a:ea typeface="Calibri"/>
                        <a:cs typeface="Calibri"/>
                        <a:sym typeface="Calibri"/>
                      </a:endParaRPr>
                    </a:p>
                  </a:txBody>
                  <a:tcPr marL="68575" marR="68575" marT="0" marB="0"/>
                </a:tc>
                <a:tc>
                  <a:txBody>
                    <a:bodyPr/>
                    <a:lstStyle/>
                    <a:p>
                      <a:pPr marL="0" marR="0" lvl="0" indent="0" algn="ctr" rtl="0">
                        <a:spcBef>
                          <a:spcPts val="0"/>
                        </a:spcBef>
                        <a:spcAft>
                          <a:spcPts val="0"/>
                        </a:spcAft>
                        <a:buNone/>
                      </a:pPr>
                      <a:endParaRPr sz="1200" b="1" u="none" strike="noStrike" cap="none">
                        <a:latin typeface="Times New Roman"/>
                        <a:ea typeface="Times New Roman"/>
                        <a:cs typeface="Times New Roman"/>
                        <a:sym typeface="Times New Roman"/>
                      </a:endParaRPr>
                    </a:p>
                    <a:p>
                      <a:pPr marL="0" marR="0" lvl="0" indent="0" algn="ctr" rtl="0">
                        <a:spcBef>
                          <a:spcPts val="0"/>
                        </a:spcBef>
                        <a:spcAft>
                          <a:spcPts val="0"/>
                        </a:spcAft>
                        <a:buNone/>
                      </a:pPr>
                      <a:r>
                        <a:rPr lang="en-US" sz="1200" b="1" u="none" strike="noStrike" cap="none">
                          <a:latin typeface="Times New Roman"/>
                          <a:ea typeface="Times New Roman"/>
                          <a:cs typeface="Times New Roman"/>
                          <a:sym typeface="Times New Roman"/>
                        </a:rPr>
                        <a:t>Objective/Proposed work</a:t>
                      </a:r>
                      <a:endParaRPr sz="1200" u="none" strike="noStrike" cap="none">
                        <a:latin typeface="Calibri"/>
                        <a:ea typeface="Calibri"/>
                        <a:cs typeface="Calibri"/>
                        <a:sym typeface="Calibri"/>
                      </a:endParaRPr>
                    </a:p>
                  </a:txBody>
                  <a:tcPr marL="68575" marR="68575" marT="0" marB="0"/>
                </a:tc>
                <a:tc>
                  <a:txBody>
                    <a:bodyPr/>
                    <a:lstStyle/>
                    <a:p>
                      <a:pPr marL="0" marR="0" lvl="0" indent="0" algn="ctr" rtl="0">
                        <a:spcBef>
                          <a:spcPts val="0"/>
                        </a:spcBef>
                        <a:spcAft>
                          <a:spcPts val="0"/>
                        </a:spcAft>
                        <a:buNone/>
                      </a:pPr>
                      <a:endParaRPr sz="1200" b="1" u="none" strike="noStrike" cap="none">
                        <a:latin typeface="Times New Roman"/>
                        <a:ea typeface="Times New Roman"/>
                        <a:cs typeface="Times New Roman"/>
                        <a:sym typeface="Times New Roman"/>
                      </a:endParaRPr>
                    </a:p>
                    <a:p>
                      <a:pPr marL="0" marR="0" lvl="0" indent="0" algn="ctr" rtl="0">
                        <a:spcBef>
                          <a:spcPts val="0"/>
                        </a:spcBef>
                        <a:spcAft>
                          <a:spcPts val="0"/>
                        </a:spcAft>
                        <a:buNone/>
                      </a:pPr>
                      <a:r>
                        <a:rPr lang="en-US" sz="1200" b="1" u="none" strike="noStrike" cap="none">
                          <a:latin typeface="Times New Roman"/>
                          <a:ea typeface="Times New Roman"/>
                          <a:cs typeface="Times New Roman"/>
                          <a:sym typeface="Times New Roman"/>
                        </a:rPr>
                        <a:t>Methods/Techniques</a:t>
                      </a:r>
                      <a:endParaRPr sz="1200" u="none" strike="noStrike" cap="none">
                        <a:latin typeface="Calibri"/>
                        <a:ea typeface="Calibri"/>
                        <a:cs typeface="Calibri"/>
                        <a:sym typeface="Calibri"/>
                      </a:endParaRPr>
                    </a:p>
                  </a:txBody>
                  <a:tcPr marL="68575" marR="68575" marT="0" marB="0"/>
                </a:tc>
                <a:tc>
                  <a:txBody>
                    <a:bodyPr/>
                    <a:lstStyle/>
                    <a:p>
                      <a:pPr marL="0" marR="0" lvl="0" indent="0" algn="ctr" rtl="0">
                        <a:spcBef>
                          <a:spcPts val="0"/>
                        </a:spcBef>
                        <a:spcAft>
                          <a:spcPts val="0"/>
                        </a:spcAft>
                        <a:buNone/>
                      </a:pPr>
                      <a:endParaRPr sz="1200" b="1" u="none" strike="noStrike" cap="none">
                        <a:latin typeface="Times New Roman"/>
                        <a:ea typeface="Times New Roman"/>
                        <a:cs typeface="Times New Roman"/>
                        <a:sym typeface="Times New Roman"/>
                      </a:endParaRPr>
                    </a:p>
                    <a:p>
                      <a:pPr marL="0" marR="0" lvl="0" indent="0" algn="ctr" rtl="0">
                        <a:spcBef>
                          <a:spcPts val="0"/>
                        </a:spcBef>
                        <a:spcAft>
                          <a:spcPts val="0"/>
                        </a:spcAft>
                        <a:buNone/>
                      </a:pPr>
                      <a:r>
                        <a:rPr lang="en-US" sz="1200" b="1" u="none" strike="noStrike" cap="none">
                          <a:latin typeface="Times New Roman"/>
                          <a:ea typeface="Times New Roman"/>
                          <a:cs typeface="Times New Roman"/>
                          <a:sym typeface="Times New Roman"/>
                        </a:rPr>
                        <a:t>Datasets/</a:t>
                      </a:r>
                      <a:endParaRPr sz="1600"/>
                    </a:p>
                    <a:p>
                      <a:pPr marL="0" marR="0" lvl="0" indent="0" algn="ctr" rtl="0">
                        <a:spcBef>
                          <a:spcPts val="0"/>
                        </a:spcBef>
                        <a:spcAft>
                          <a:spcPts val="0"/>
                        </a:spcAft>
                        <a:buNone/>
                      </a:pPr>
                      <a:r>
                        <a:rPr lang="en-US" sz="1200" b="1" u="none" strike="noStrike" cap="none">
                          <a:latin typeface="Times New Roman"/>
                          <a:ea typeface="Times New Roman"/>
                          <a:cs typeface="Times New Roman"/>
                          <a:sym typeface="Times New Roman"/>
                        </a:rPr>
                        <a:t>supporting data</a:t>
                      </a:r>
                      <a:endParaRPr sz="1200" u="none" strike="noStrike" cap="none">
                        <a:latin typeface="Calibri"/>
                        <a:ea typeface="Calibri"/>
                        <a:cs typeface="Calibri"/>
                        <a:sym typeface="Calibri"/>
                      </a:endParaRPr>
                    </a:p>
                  </a:txBody>
                  <a:tcPr marL="68575" marR="68575" marT="0" marB="0"/>
                </a:tc>
                <a:tc>
                  <a:txBody>
                    <a:bodyPr/>
                    <a:lstStyle/>
                    <a:p>
                      <a:pPr marL="0" marR="0" lvl="0" indent="0" algn="ctr" rtl="0">
                        <a:spcBef>
                          <a:spcPts val="0"/>
                        </a:spcBef>
                        <a:spcAft>
                          <a:spcPts val="0"/>
                        </a:spcAft>
                        <a:buNone/>
                      </a:pPr>
                      <a:endParaRPr sz="1200" b="1" u="none" strike="noStrike" cap="none">
                        <a:latin typeface="Times New Roman"/>
                        <a:ea typeface="Times New Roman"/>
                        <a:cs typeface="Times New Roman"/>
                        <a:sym typeface="Times New Roman"/>
                      </a:endParaRPr>
                    </a:p>
                    <a:p>
                      <a:pPr marL="0" marR="0" lvl="0" indent="0" algn="ctr" rtl="0">
                        <a:spcBef>
                          <a:spcPts val="0"/>
                        </a:spcBef>
                        <a:spcAft>
                          <a:spcPts val="0"/>
                        </a:spcAft>
                        <a:buNone/>
                      </a:pPr>
                      <a:r>
                        <a:rPr lang="en-US" sz="1200" b="1" u="none" strike="noStrike" cap="none">
                          <a:latin typeface="Times New Roman"/>
                          <a:ea typeface="Times New Roman"/>
                          <a:cs typeface="Times New Roman"/>
                          <a:sym typeface="Times New Roman"/>
                        </a:rPr>
                        <a:t>Relevant findings/</a:t>
                      </a:r>
                      <a:endParaRPr sz="1600"/>
                    </a:p>
                    <a:p>
                      <a:pPr marL="0" marR="0" lvl="0" indent="0" algn="ctr" rtl="0">
                        <a:spcBef>
                          <a:spcPts val="0"/>
                        </a:spcBef>
                        <a:spcAft>
                          <a:spcPts val="0"/>
                        </a:spcAft>
                        <a:buNone/>
                      </a:pPr>
                      <a:r>
                        <a:rPr lang="en-US" sz="1200" b="1" u="none" strike="noStrike" cap="none">
                          <a:latin typeface="Times New Roman"/>
                          <a:ea typeface="Times New Roman"/>
                          <a:cs typeface="Times New Roman"/>
                          <a:sym typeface="Times New Roman"/>
                        </a:rPr>
                        <a:t>Limitations identified</a:t>
                      </a:r>
                      <a:endParaRPr sz="12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1061275">
                <a:tc>
                  <a:txBody>
                    <a:bodyPr/>
                    <a:lstStyle/>
                    <a:p>
                      <a:pPr marL="92049" marR="50292" lvl="0" indent="2285" algn="l" rtl="0">
                        <a:lnSpc>
                          <a:spcPct val="103291"/>
                        </a:lnSpc>
                        <a:spcBef>
                          <a:spcPts val="88"/>
                        </a:spcBef>
                        <a:spcAft>
                          <a:spcPts val="0"/>
                        </a:spcAft>
                        <a:buSzPts val="1100"/>
                        <a:buNone/>
                      </a:pPr>
                      <a:r>
                        <a:rPr lang="en-US">
                          <a:latin typeface="Times New Roman"/>
                          <a:ea typeface="Times New Roman"/>
                          <a:cs typeface="Times New Roman"/>
                          <a:sym typeface="Times New Roman"/>
                        </a:rPr>
                        <a:t>El-Kanj, Hania</a:t>
                      </a:r>
                      <a:endParaRPr>
                        <a:latin typeface="Times New Roman"/>
                        <a:ea typeface="Times New Roman"/>
                        <a:cs typeface="Times New Roman"/>
                        <a:sym typeface="Times New Roman"/>
                      </a:endParaRPr>
                    </a:p>
                    <a:p>
                      <a:pPr marL="92049" marR="50292" lvl="0" indent="2285" algn="l" rtl="0">
                        <a:lnSpc>
                          <a:spcPct val="103291"/>
                        </a:lnSpc>
                        <a:spcBef>
                          <a:spcPts val="88"/>
                        </a:spcBef>
                        <a:spcAft>
                          <a:spcPts val="0"/>
                        </a:spcAft>
                        <a:buClr>
                          <a:schemeClr val="dk1"/>
                        </a:buClr>
                        <a:buSzPts val="1100"/>
                        <a:buFont typeface="Arial"/>
                        <a:buNone/>
                      </a:pPr>
                      <a:r>
                        <a:rPr lang="en-US">
                          <a:latin typeface="Times New Roman"/>
                          <a:ea typeface="Times New Roman"/>
                          <a:cs typeface="Times New Roman"/>
                          <a:sym typeface="Times New Roman"/>
                        </a:rPr>
                        <a:t>(2023) </a:t>
                      </a:r>
                      <a:endParaRPr sz="2000"/>
                    </a:p>
                  </a:txBody>
                  <a:tcPr marL="91450" marR="91450" marT="45725" marB="45725"/>
                </a:tc>
                <a:tc>
                  <a:txBody>
                    <a:bodyPr/>
                    <a:lstStyle/>
                    <a:p>
                      <a:pPr marL="0" lvl="0" indent="0" algn="l" rtl="0">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to design and implement a fully automated system</a:t>
                      </a:r>
                      <a:endParaRPr>
                        <a:latin typeface="Times New Roman"/>
                        <a:ea typeface="Times New Roman"/>
                        <a:cs typeface="Times New Roman"/>
                        <a:sym typeface="Times New Roman"/>
                      </a:endParaRPr>
                    </a:p>
                  </a:txBody>
                  <a:tcPr marL="91450" marR="91450" marT="45725" marB="45725"/>
                </a:tc>
                <a:tc>
                  <a:txBody>
                    <a:bodyPr/>
                    <a:lstStyle/>
                    <a:p>
                      <a:pPr marL="0" lvl="0" indent="0" algn="l" rtl="0">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SWMS proposed design is to integrate sensors</a:t>
                      </a:r>
                      <a:endParaRPr sz="2000"/>
                    </a:p>
                  </a:txBody>
                  <a:tcPr marL="91450" marR="91450" marT="45725" marB="45725"/>
                </a:tc>
                <a:tc>
                  <a:txBody>
                    <a:bodyPr/>
                    <a:lstStyle/>
                    <a:p>
                      <a:pPr marL="0" lvl="0" indent="0" algn="l" rtl="0">
                        <a:lnSpc>
                          <a:spcPct val="115000"/>
                        </a:lnSpc>
                        <a:spcBef>
                          <a:spcPts val="0"/>
                        </a:spcBef>
                        <a:spcAft>
                          <a:spcPts val="0"/>
                        </a:spcAft>
                        <a:buSzPts val="1100"/>
                        <a:buNone/>
                      </a:pPr>
                      <a:r>
                        <a:rPr lang="en-US">
                          <a:latin typeface="Times New Roman"/>
                          <a:ea typeface="Times New Roman"/>
                          <a:cs typeface="Times New Roman"/>
                          <a:sym typeface="Times New Roman"/>
                        </a:rPr>
                        <a:t> Kaggle Datasets</a:t>
                      </a:r>
                      <a:endParaRPr>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US">
                          <a:latin typeface="Times New Roman"/>
                          <a:ea typeface="Times New Roman"/>
                          <a:cs typeface="Times New Roman"/>
                          <a:sym typeface="Times New Roman"/>
                        </a:rPr>
                        <a:t>- IEEE Dataport</a:t>
                      </a:r>
                      <a:endParaRPr>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 Open IoT Data</a:t>
                      </a:r>
                      <a:endParaRPr>
                        <a:latin typeface="Times New Roman"/>
                        <a:ea typeface="Times New Roman"/>
                        <a:cs typeface="Times New Roman"/>
                        <a:sym typeface="Times New Roman"/>
                      </a:endParaRPr>
                    </a:p>
                  </a:txBody>
                  <a:tcPr marL="91450" marR="91450" marT="45725" marB="45725"/>
                </a:tc>
                <a:tc>
                  <a:txBody>
                    <a:bodyPr/>
                    <a:lstStyle/>
                    <a:p>
                      <a:pPr marL="0" lvl="0" indent="0" algn="l" rtl="0">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 Other waste  requires  further segregation.</a:t>
                      </a:r>
                      <a:endParaRPr>
                        <a:latin typeface="Times New Roman"/>
                        <a:ea typeface="Times New Roman"/>
                        <a:cs typeface="Times New Roman"/>
                        <a:sym typeface="Times New Roman"/>
                      </a:endParaRPr>
                    </a:p>
                    <a:p>
                      <a:pPr marL="0" marR="0" lvl="0" indent="0" algn="l" rtl="0">
                        <a:spcBef>
                          <a:spcPts val="0"/>
                        </a:spcBef>
                        <a:spcAft>
                          <a:spcPts val="0"/>
                        </a:spcAft>
                        <a:buNone/>
                      </a:pPr>
                      <a:endParaRPr sz="2000"/>
                    </a:p>
                  </a:txBody>
                  <a:tcPr marL="91450" marR="91450" marT="45725" marB="45725"/>
                </a:tc>
                <a:extLst>
                  <a:ext uri="{0D108BD9-81ED-4DB2-BD59-A6C34878D82A}">
                    <a16:rowId xmlns:a16="http://schemas.microsoft.com/office/drawing/2014/main" val="10001"/>
                  </a:ext>
                </a:extLst>
              </a:tr>
              <a:tr h="1291250">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Pandey, Atul &amp; Sahu(2019)</a:t>
                      </a:r>
                      <a:endParaRPr sz="2000"/>
                    </a:p>
                  </a:txBody>
                  <a:tcPr marL="91450" marR="91450" marT="45725" marB="45725"/>
                </a:tc>
                <a:tc>
                  <a:txBody>
                    <a:bodyPr/>
                    <a:lstStyle/>
                    <a:p>
                      <a:pPr marL="0" lvl="0" indent="0" algn="l" rtl="0">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segregate  waste at source  then  Recycling</a:t>
                      </a:r>
                      <a:endParaRPr sz="2000"/>
                    </a:p>
                  </a:txBody>
                  <a:tcPr marL="91450" marR="91450" marT="45725" marB="45725"/>
                </a:tc>
                <a:tc>
                  <a:txBody>
                    <a:bodyPr/>
                    <a:lstStyle/>
                    <a:p>
                      <a:pPr marL="0" lvl="0" indent="0" algn="l" rtl="0">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 segregate  waste  into 3 categories  wet,  dry  and  hazardous  waste</a:t>
                      </a:r>
                      <a:endParaRPr>
                        <a:latin typeface="Times New Roman"/>
                        <a:ea typeface="Times New Roman"/>
                        <a:cs typeface="Times New Roman"/>
                        <a:sym typeface="Times New Roman"/>
                      </a:endParaRPr>
                    </a:p>
                    <a:p>
                      <a:pPr marL="0" marR="0" lvl="0" indent="0" algn="l" rtl="0">
                        <a:spcBef>
                          <a:spcPts val="0"/>
                        </a:spcBef>
                        <a:spcAft>
                          <a:spcPts val="0"/>
                        </a:spcAft>
                        <a:buNone/>
                      </a:pPr>
                      <a:endParaRPr sz="2000"/>
                    </a:p>
                  </a:txBody>
                  <a:tcPr marL="91450" marR="91450" marT="45725" marB="45725"/>
                </a:tc>
                <a:tc>
                  <a:txBody>
                    <a:bodyPr/>
                    <a:lstStyle/>
                    <a:p>
                      <a:pPr marL="0" lvl="0" indent="0" algn="l" rtl="0">
                        <a:lnSpc>
                          <a:spcPct val="115000"/>
                        </a:lnSpc>
                        <a:spcBef>
                          <a:spcPts val="0"/>
                        </a:spcBef>
                        <a:spcAft>
                          <a:spcPts val="0"/>
                        </a:spcAft>
                        <a:buSzPts val="1100"/>
                        <a:buNone/>
                      </a:pPr>
                      <a:r>
                        <a:rPr lang="en-US">
                          <a:latin typeface="Times New Roman"/>
                          <a:ea typeface="Times New Roman"/>
                          <a:cs typeface="Times New Roman"/>
                          <a:sym typeface="Times New Roman"/>
                        </a:rPr>
                        <a:t>DPCC</a:t>
                      </a:r>
                      <a:endParaRPr>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US">
                          <a:latin typeface="Times New Roman"/>
                          <a:ea typeface="Times New Roman"/>
                          <a:cs typeface="Times New Roman"/>
                          <a:sym typeface="Times New Roman"/>
                        </a:rPr>
                        <a:t>MSW</a:t>
                      </a:r>
                      <a:endParaRPr>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US">
                          <a:latin typeface="Times New Roman"/>
                          <a:ea typeface="Times New Roman"/>
                          <a:cs typeface="Times New Roman"/>
                          <a:sym typeface="Times New Roman"/>
                        </a:rPr>
                        <a:t>Govt. of Delhi ,Delhi.</a:t>
                      </a:r>
                      <a:endParaRPr>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a:latin typeface="Times New Roman"/>
                        <a:ea typeface="Times New Roman"/>
                        <a:cs typeface="Times New Roman"/>
                        <a:sym typeface="Times New Roman"/>
                      </a:endParaRPr>
                    </a:p>
                  </a:txBody>
                  <a:tcPr marL="91450" marR="91450" marT="45725" marB="45725"/>
                </a:tc>
                <a:tc>
                  <a:txBody>
                    <a:bodyPr/>
                    <a:lstStyle/>
                    <a:p>
                      <a:pPr marL="0" lvl="0" indent="0" algn="l" rtl="0">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Only applicable for developing countries ,plagued with weak institutions</a:t>
                      </a:r>
                      <a:endParaRPr sz="2000"/>
                    </a:p>
                  </a:txBody>
                  <a:tcPr marL="91450" marR="91450" marT="45725" marB="45725"/>
                </a:tc>
                <a:extLst>
                  <a:ext uri="{0D108BD9-81ED-4DB2-BD59-A6C34878D82A}">
                    <a16:rowId xmlns:a16="http://schemas.microsoft.com/office/drawing/2014/main" val="10002"/>
                  </a:ext>
                </a:extLst>
              </a:tr>
              <a:tr h="1605200">
                <a:tc>
                  <a:txBody>
                    <a:bodyPr/>
                    <a:lstStyle/>
                    <a:p>
                      <a:pPr marL="0" lvl="0" indent="0" algn="l" rtl="0">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Wirani, Yekti &amp; Eitiveni(2024)</a:t>
                      </a:r>
                      <a:endParaRPr sz="2000"/>
                    </a:p>
                  </a:txBody>
                  <a:tcPr marL="91450" marR="91450" marT="45725" marB="45725"/>
                </a:tc>
                <a:tc>
                  <a:txBody>
                    <a:bodyPr/>
                    <a:lstStyle/>
                    <a:p>
                      <a:pPr marL="0" lvl="0" indent="0" algn="l" rtl="0">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develop a smart and integrated household waste management </a:t>
                      </a:r>
                      <a:endParaRPr sz="2000"/>
                    </a:p>
                  </a:txBody>
                  <a:tcPr marL="91450" marR="91450" marT="45725" marB="45725"/>
                </a:tc>
                <a:tc>
                  <a:txBody>
                    <a:bodyPr/>
                    <a:lstStyle/>
                    <a:p>
                      <a:pPr marL="0" lvl="0" indent="0" algn="l" rtl="0">
                        <a:lnSpc>
                          <a:spcPct val="115000"/>
                        </a:lnSpc>
                        <a:spcBef>
                          <a:spcPts val="0"/>
                        </a:spcBef>
                        <a:spcAft>
                          <a:spcPts val="0"/>
                        </a:spcAft>
                        <a:buSzPts val="1100"/>
                        <a:buNone/>
                      </a:pPr>
                      <a:r>
                        <a:rPr lang="en-US">
                          <a:latin typeface="Times New Roman"/>
                          <a:ea typeface="Times New Roman"/>
                          <a:cs typeface="Times New Roman"/>
                          <a:sym typeface="Times New Roman"/>
                        </a:rPr>
                        <a:t>SLR</a:t>
                      </a:r>
                      <a:endParaRPr>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US">
                          <a:latin typeface="Times New Roman"/>
                          <a:ea typeface="Times New Roman"/>
                          <a:cs typeface="Times New Roman"/>
                          <a:sym typeface="Times New Roman"/>
                        </a:rPr>
                        <a:t>PRISMA</a:t>
                      </a:r>
                      <a:endParaRPr>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PICO</a:t>
                      </a:r>
                      <a:endParaRPr>
                        <a:latin typeface="Times New Roman"/>
                        <a:ea typeface="Times New Roman"/>
                        <a:cs typeface="Times New Roman"/>
                        <a:sym typeface="Times New Roman"/>
                      </a:endParaRPr>
                    </a:p>
                  </a:txBody>
                  <a:tcPr marL="91450" marR="91450" marT="45725" marB="45725"/>
                </a:tc>
                <a:tc>
                  <a:txBody>
                    <a:bodyPr/>
                    <a:lstStyle/>
                    <a:p>
                      <a:pPr marL="0" lvl="0" indent="0" algn="l" rtl="0">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ISWM framework SLR technique,</a:t>
                      </a:r>
                      <a:endParaRPr>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PRISMA</a:t>
                      </a:r>
                      <a:endParaRPr sz="2000"/>
                    </a:p>
                  </a:txBody>
                  <a:tcPr marL="91450" marR="91450" marT="45725" marB="45725"/>
                </a:tc>
                <a:tc>
                  <a:txBody>
                    <a:bodyPr/>
                    <a:lstStyle/>
                    <a:p>
                      <a:pPr marL="0" lvl="0" indent="0" algn="l" rtl="0">
                        <a:lnSpc>
                          <a:spcPct val="115000"/>
                        </a:lnSpc>
                        <a:spcBef>
                          <a:spcPts val="0"/>
                        </a:spcBef>
                        <a:spcAft>
                          <a:spcPts val="0"/>
                        </a:spcAft>
                        <a:buSzPts val="1100"/>
                        <a:buNone/>
                      </a:pPr>
                      <a:r>
                        <a:rPr lang="en-US">
                          <a:latin typeface="Times New Roman"/>
                          <a:ea typeface="Times New Roman"/>
                          <a:cs typeface="Times New Roman"/>
                          <a:sym typeface="Times New Roman"/>
                        </a:rPr>
                        <a:t>does not focus on</a:t>
                      </a:r>
                      <a:endParaRPr>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US">
                          <a:latin typeface="Times New Roman"/>
                          <a:ea typeface="Times New Roman"/>
                          <a:cs typeface="Times New Roman"/>
                          <a:sym typeface="Times New Roman"/>
                        </a:rPr>
                        <a:t>diﬀerentiating between developing and developed countries</a:t>
                      </a:r>
                      <a:endParaRPr>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3"/>
                  </a:ext>
                </a:extLst>
              </a:tr>
            </a:tbl>
          </a:graphicData>
        </a:graphic>
      </p:graphicFrame>
      <p:pic>
        <p:nvPicPr>
          <p:cNvPr id="125" name="Google Shape;125;p16" descr="PCCOE&amp;R Logo"/>
          <p:cNvPicPr preferRelativeResize="0"/>
          <p:nvPr/>
        </p:nvPicPr>
        <p:blipFill rotWithShape="1">
          <a:blip r:embed="rId3">
            <a:alphaModFix/>
          </a:blip>
          <a:srcRect/>
          <a:stretch/>
        </p:blipFill>
        <p:spPr>
          <a:xfrm>
            <a:off x="7715272" y="285728"/>
            <a:ext cx="1160780" cy="817880"/>
          </a:xfrm>
          <a:prstGeom prst="rect">
            <a:avLst/>
          </a:prstGeom>
          <a:noFill/>
          <a:ln>
            <a:noFill/>
          </a:ln>
        </p:spPr>
      </p:pic>
      <p:sp>
        <p:nvSpPr>
          <p:cNvPr id="126" name="Google Shape;126;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9/11/2024</a:t>
            </a:r>
            <a:endParaRPr/>
          </a:p>
        </p:txBody>
      </p:sp>
      <p:sp>
        <p:nvSpPr>
          <p:cNvPr id="127" name="Google Shape;12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28" name="Google Shape;128;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PCCOER                                                     Computer Engineering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just" rtl="0">
              <a:lnSpc>
                <a:spcPct val="150000"/>
              </a:lnSpc>
              <a:spcBef>
                <a:spcPts val="0"/>
              </a:spcBef>
              <a:spcAft>
                <a:spcPts val="0"/>
              </a:spcAft>
              <a:buNone/>
            </a:pPr>
            <a:r>
              <a:rPr lang="en-US" sz="2800" b="1">
                <a:latin typeface="Times New Roman"/>
                <a:ea typeface="Times New Roman"/>
                <a:cs typeface="Times New Roman"/>
                <a:sym typeface="Times New Roman"/>
              </a:rPr>
              <a:t>PROBLEM STATEMENT &amp; OBJECTIVES</a:t>
            </a:r>
            <a:endParaRPr/>
          </a:p>
        </p:txBody>
      </p:sp>
      <p:sp>
        <p:nvSpPr>
          <p:cNvPr id="134" name="Google Shape;134;p17"/>
          <p:cNvSpPr txBox="1">
            <a:spLocks noGrp="1"/>
          </p:cNvSpPr>
          <p:nvPr>
            <p:ph type="body" idx="1"/>
          </p:nvPr>
        </p:nvSpPr>
        <p:spPr>
          <a:xfrm>
            <a:off x="457200" y="1103600"/>
            <a:ext cx="8229600" cy="4125000"/>
          </a:xfrm>
          <a:prstGeom prst="rect">
            <a:avLst/>
          </a:prstGeom>
          <a:noFill/>
          <a:ln>
            <a:noFill/>
          </a:ln>
        </p:spPr>
        <p:txBody>
          <a:bodyPr spcFirstLastPara="1" wrap="square" lIns="91425" tIns="45700" rIns="91425" bIns="45700" anchor="t" anchorCtr="0">
            <a:noAutofit/>
          </a:bodyPr>
          <a:lstStyle/>
          <a:p>
            <a:pPr marL="365125" lvl="0" indent="-255587" algn="just" rtl="0">
              <a:lnSpc>
                <a:spcPct val="150000"/>
              </a:lnSpc>
              <a:spcBef>
                <a:spcPts val="0"/>
              </a:spcBef>
              <a:spcAft>
                <a:spcPts val="0"/>
              </a:spcAft>
              <a:buClr>
                <a:schemeClr val="dk1"/>
              </a:buClr>
              <a:buSzPts val="2900"/>
              <a:buFont typeface="Noto Sans Symbols"/>
              <a:buNone/>
            </a:pPr>
            <a:endParaRPr sz="2000" b="1">
              <a:latin typeface="Times New Roman"/>
              <a:ea typeface="Times New Roman"/>
              <a:cs typeface="Times New Roman"/>
              <a:sym typeface="Times New Roman"/>
            </a:endParaRPr>
          </a:p>
          <a:p>
            <a:pPr marL="365125" lvl="0" indent="-255587" algn="just" rtl="0">
              <a:lnSpc>
                <a:spcPct val="150000"/>
              </a:lnSpc>
              <a:spcBef>
                <a:spcPts val="0"/>
              </a:spcBef>
              <a:spcAft>
                <a:spcPts val="0"/>
              </a:spcAft>
              <a:buClr>
                <a:schemeClr val="dk1"/>
              </a:buClr>
              <a:buSzPts val="2900"/>
              <a:buFont typeface="Noto Sans Symbols"/>
              <a:buNone/>
            </a:pPr>
            <a:r>
              <a:rPr lang="en-US" sz="2000" b="1">
                <a:latin typeface="Times New Roman"/>
                <a:ea typeface="Times New Roman"/>
                <a:cs typeface="Times New Roman"/>
                <a:sym typeface="Times New Roman"/>
              </a:rPr>
              <a:t>Problem Statement</a:t>
            </a:r>
            <a:endParaRPr sz="2000" b="1">
              <a:latin typeface="Times New Roman"/>
              <a:ea typeface="Times New Roman"/>
              <a:cs typeface="Times New Roman"/>
              <a:sym typeface="Times New Roman"/>
            </a:endParaRPr>
          </a:p>
          <a:p>
            <a:pPr marL="365125" lvl="0" indent="-255587" algn="just" rtl="0">
              <a:lnSpc>
                <a:spcPct val="150000"/>
              </a:lnSpc>
              <a:spcBef>
                <a:spcPts val="340"/>
              </a:spcBef>
              <a:spcAft>
                <a:spcPts val="0"/>
              </a:spcAft>
              <a:buClr>
                <a:schemeClr val="dk1"/>
              </a:buClr>
              <a:buSzPts val="1700"/>
              <a:buFont typeface="Noto Sans Symbols"/>
              <a:buNone/>
            </a:pPr>
            <a:r>
              <a:rPr lang="en-US" sz="1700">
                <a:latin typeface="Times New Roman"/>
                <a:ea typeface="Times New Roman"/>
                <a:cs typeface="Times New Roman"/>
                <a:sym typeface="Times New Roman"/>
              </a:rPr>
              <a:t>  </a:t>
            </a:r>
            <a:r>
              <a:rPr lang="en-US" sz="2000">
                <a:latin typeface="Times New Roman"/>
                <a:ea typeface="Times New Roman"/>
                <a:cs typeface="Times New Roman"/>
                <a:sym typeface="Times New Roman"/>
              </a:rPr>
              <a:t>Develop a system which can segregate hazardous hospital waste before disposal.</a:t>
            </a:r>
            <a:endParaRPr sz="2000">
              <a:latin typeface="Times New Roman"/>
              <a:ea typeface="Times New Roman"/>
              <a:cs typeface="Times New Roman"/>
              <a:sym typeface="Times New Roman"/>
            </a:endParaRPr>
          </a:p>
          <a:p>
            <a:pPr marL="365125" lvl="0" indent="-255587" algn="just" rtl="0">
              <a:lnSpc>
                <a:spcPct val="150000"/>
              </a:lnSpc>
              <a:spcBef>
                <a:spcPts val="340"/>
              </a:spcBef>
              <a:spcAft>
                <a:spcPts val="0"/>
              </a:spcAft>
              <a:buClr>
                <a:schemeClr val="dk1"/>
              </a:buClr>
              <a:buSzPts val="1700"/>
              <a:buFont typeface="Noto Sans Symbols"/>
              <a:buNone/>
            </a:pPr>
            <a:endParaRPr sz="1700">
              <a:latin typeface="Times New Roman"/>
              <a:ea typeface="Times New Roman"/>
              <a:cs typeface="Times New Roman"/>
              <a:sym typeface="Times New Roman"/>
            </a:endParaRPr>
          </a:p>
          <a:p>
            <a:pPr marL="365125" lvl="0" indent="-255587" algn="just" rtl="0">
              <a:lnSpc>
                <a:spcPct val="150000"/>
              </a:lnSpc>
              <a:spcBef>
                <a:spcPts val="340"/>
              </a:spcBef>
              <a:spcAft>
                <a:spcPts val="0"/>
              </a:spcAft>
              <a:buClr>
                <a:schemeClr val="dk1"/>
              </a:buClr>
              <a:buSzPts val="1700"/>
              <a:buFont typeface="Noto Sans Symbols"/>
              <a:buNone/>
            </a:pPr>
            <a:r>
              <a:rPr lang="en-US" sz="2000" b="1">
                <a:latin typeface="Times New Roman"/>
                <a:ea typeface="Times New Roman"/>
                <a:cs typeface="Times New Roman"/>
                <a:sym typeface="Times New Roman"/>
              </a:rPr>
              <a:t>Objective</a:t>
            </a:r>
            <a:endParaRPr sz="2000" b="1">
              <a:latin typeface="Times New Roman"/>
              <a:ea typeface="Times New Roman"/>
              <a:cs typeface="Times New Roman"/>
              <a:sym typeface="Times New Roman"/>
            </a:endParaRPr>
          </a:p>
          <a:p>
            <a:pPr marL="365125" lvl="0" indent="-255587" algn="just" rtl="0">
              <a:lnSpc>
                <a:spcPct val="150000"/>
              </a:lnSpc>
              <a:spcBef>
                <a:spcPts val="340"/>
              </a:spcBef>
              <a:spcAft>
                <a:spcPts val="0"/>
              </a:spcAft>
              <a:buClr>
                <a:schemeClr val="dk1"/>
              </a:buClr>
              <a:buSzPts val="1700"/>
              <a:buFont typeface="Noto Sans Symbols"/>
              <a:buNone/>
            </a:pPr>
            <a:r>
              <a:rPr lang="en-US" sz="2000" b="1">
                <a:latin typeface="Times New Roman"/>
                <a:ea typeface="Times New Roman"/>
                <a:cs typeface="Times New Roman"/>
                <a:sym typeface="Times New Roman"/>
              </a:rPr>
              <a:t>   </a:t>
            </a:r>
            <a:r>
              <a:rPr lang="en-US" sz="2000">
                <a:latin typeface="Times New Roman"/>
                <a:ea typeface="Times New Roman"/>
                <a:cs typeface="Times New Roman"/>
                <a:sym typeface="Times New Roman"/>
              </a:rPr>
              <a:t>In recent times, the world has been experiencing an increase in medical cases due to inappropriate disposal of hospital waste.To properly segregate Hazardous wastes in medical facilities.</a:t>
            </a:r>
            <a:endParaRPr sz="4000" b="1">
              <a:latin typeface="Times New Roman"/>
              <a:ea typeface="Times New Roman"/>
              <a:cs typeface="Times New Roman"/>
              <a:sym typeface="Times New Roman"/>
            </a:endParaRPr>
          </a:p>
        </p:txBody>
      </p:sp>
      <p:pic>
        <p:nvPicPr>
          <p:cNvPr id="135" name="Google Shape;135;p17" descr="PCCOE&amp;R Logo"/>
          <p:cNvPicPr preferRelativeResize="0"/>
          <p:nvPr/>
        </p:nvPicPr>
        <p:blipFill rotWithShape="1">
          <a:blip r:embed="rId3">
            <a:alphaModFix/>
          </a:blip>
          <a:srcRect/>
          <a:stretch/>
        </p:blipFill>
        <p:spPr>
          <a:xfrm>
            <a:off x="7715272" y="285728"/>
            <a:ext cx="1160780" cy="817880"/>
          </a:xfrm>
          <a:prstGeom prst="rect">
            <a:avLst/>
          </a:prstGeom>
          <a:noFill/>
          <a:ln>
            <a:noFill/>
          </a:ln>
        </p:spPr>
      </p:pic>
      <p:sp>
        <p:nvSpPr>
          <p:cNvPr id="136" name="Google Shape;136;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9/11/2024</a:t>
            </a:r>
            <a:endParaRPr/>
          </a:p>
        </p:txBody>
      </p:sp>
      <p:sp>
        <p:nvSpPr>
          <p:cNvPr id="137" name="Google Shape;13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38" name="Google Shape;13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PCCOER                                                     Computer Engineering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title" idx="4294967295"/>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b="1">
                <a:latin typeface="Times New Roman"/>
                <a:ea typeface="Times New Roman"/>
                <a:cs typeface="Times New Roman"/>
                <a:sym typeface="Times New Roman"/>
              </a:rPr>
              <a:t>EXISTING SYSTEM </a:t>
            </a:r>
            <a:endParaRPr/>
          </a:p>
        </p:txBody>
      </p:sp>
      <p:sp>
        <p:nvSpPr>
          <p:cNvPr id="144" name="Google Shape;144;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9/11/2024</a:t>
            </a:r>
            <a:endParaRPr/>
          </a:p>
        </p:txBody>
      </p:sp>
      <p:sp>
        <p:nvSpPr>
          <p:cNvPr id="145" name="Google Shape;145;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
        <p:nvSpPr>
          <p:cNvPr id="146" name="Google Shape;14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PCCOER                                                     Computer Engineering</a:t>
            </a:r>
            <a:endParaRPr/>
          </a:p>
        </p:txBody>
      </p:sp>
      <p:pic>
        <p:nvPicPr>
          <p:cNvPr id="147" name="Google Shape;147;p18" descr="PCCOE&amp;R Logo"/>
          <p:cNvPicPr preferRelativeResize="0"/>
          <p:nvPr/>
        </p:nvPicPr>
        <p:blipFill rotWithShape="1">
          <a:blip r:embed="rId3">
            <a:alphaModFix/>
          </a:blip>
          <a:srcRect/>
          <a:stretch/>
        </p:blipFill>
        <p:spPr>
          <a:xfrm>
            <a:off x="7715272" y="285728"/>
            <a:ext cx="1160780" cy="817880"/>
          </a:xfrm>
          <a:prstGeom prst="rect">
            <a:avLst/>
          </a:prstGeom>
          <a:noFill/>
          <a:ln>
            <a:noFill/>
          </a:ln>
        </p:spPr>
      </p:pic>
      <p:pic>
        <p:nvPicPr>
          <p:cNvPr id="148" name="Google Shape;148;p18"/>
          <p:cNvPicPr preferRelativeResize="0"/>
          <p:nvPr/>
        </p:nvPicPr>
        <p:blipFill>
          <a:blip r:embed="rId4">
            <a:alphaModFix/>
          </a:blip>
          <a:stretch>
            <a:fillRect/>
          </a:stretch>
        </p:blipFill>
        <p:spPr>
          <a:xfrm>
            <a:off x="4191450" y="1177200"/>
            <a:ext cx="4610625" cy="5179150"/>
          </a:xfrm>
          <a:prstGeom prst="rect">
            <a:avLst/>
          </a:prstGeom>
          <a:noFill/>
          <a:ln>
            <a:noFill/>
          </a:ln>
        </p:spPr>
      </p:pic>
      <p:pic>
        <p:nvPicPr>
          <p:cNvPr id="149" name="Google Shape;149;p18"/>
          <p:cNvPicPr preferRelativeResize="0"/>
          <p:nvPr/>
        </p:nvPicPr>
        <p:blipFill>
          <a:blip r:embed="rId5">
            <a:alphaModFix/>
          </a:blip>
          <a:stretch>
            <a:fillRect/>
          </a:stretch>
        </p:blipFill>
        <p:spPr>
          <a:xfrm>
            <a:off x="152400" y="1570054"/>
            <a:ext cx="3886650" cy="4407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400" b="1" dirty="0">
                <a:latin typeface="Times New Roman"/>
                <a:ea typeface="Times New Roman"/>
                <a:cs typeface="Times New Roman"/>
                <a:sym typeface="Times New Roman"/>
              </a:rPr>
              <a:t>EXISTING SYSTEM</a:t>
            </a:r>
            <a:endParaRPr sz="2400" dirty="0"/>
          </a:p>
        </p:txBody>
      </p:sp>
      <p:sp>
        <p:nvSpPr>
          <p:cNvPr id="155" name="Google Shape;155;p1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9/11/2024</a:t>
            </a:r>
            <a:endParaRPr/>
          </a:p>
        </p:txBody>
      </p:sp>
      <p:sp>
        <p:nvSpPr>
          <p:cNvPr id="156" name="Google Shape;156;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
        <p:nvSpPr>
          <p:cNvPr id="157" name="Google Shape;157;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PCCOER                                                     Computer Engineering</a:t>
            </a:r>
            <a:endParaRPr/>
          </a:p>
        </p:txBody>
      </p:sp>
      <p:pic>
        <p:nvPicPr>
          <p:cNvPr id="158" name="Google Shape;158;p19" descr="PCCOE&amp;R Logo"/>
          <p:cNvPicPr preferRelativeResize="0"/>
          <p:nvPr/>
        </p:nvPicPr>
        <p:blipFill rotWithShape="1">
          <a:blip r:embed="rId3">
            <a:alphaModFix/>
          </a:blip>
          <a:srcRect/>
          <a:stretch/>
        </p:blipFill>
        <p:spPr>
          <a:xfrm>
            <a:off x="7715272" y="285728"/>
            <a:ext cx="1160780" cy="817880"/>
          </a:xfrm>
          <a:prstGeom prst="rect">
            <a:avLst/>
          </a:prstGeom>
          <a:noFill/>
          <a:ln>
            <a:noFill/>
          </a:ln>
        </p:spPr>
      </p:pic>
      <p:sp>
        <p:nvSpPr>
          <p:cNvPr id="159" name="Google Shape;159;p19"/>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sz="1900" dirty="0">
                <a:latin typeface="Times New Roman"/>
                <a:ea typeface="Times New Roman"/>
                <a:cs typeface="Times New Roman"/>
                <a:sym typeface="Times New Roman"/>
              </a:rPr>
              <a:t>this project proposes an intelligent kitchen waste composting system via deep learning and Internet-of-Things (IoT) that is fully automated to cater for that issue. Firstly, the proposed system utilized Convolutional Neural Network (CNN) to detect and segregate kitchen waste into compostable and non-compostable categories. Then, the classified compostable waste went through composting stage inside an automated compost bin with the feature of IoT. The IoT compost bin requires less human labor as it used sensors, actuators, and Wi-Fi connection to monitor and control the composting process. Finally, the compost soil is transferred to the designated gardening area via smart compost soil transportation system. The system consists of a robot equipped with infrared sensors. The sensors control the robot’s movement by tracking the predefined black tape path. A prototype is built to investigate the performance of the proposed system. Results show that each sub-system managed to interact with one another, thus creating a large intelligent system that succeeded in completing the kitchen waste segregation, composting and ready compost delivering tasks automatically.</a:t>
            </a:r>
            <a:endParaRPr sz="1900" dirty="0">
              <a:latin typeface="Times New Roman"/>
              <a:ea typeface="Times New Roman"/>
              <a:cs typeface="Times New Roman"/>
              <a:sym typeface="Times New Roman"/>
            </a:endParaRPr>
          </a:p>
          <a:p>
            <a:pPr marL="0" lvl="0" indent="0" algn="l" rtl="0">
              <a:spcBef>
                <a:spcPts val="360"/>
              </a:spcBef>
              <a:spcAft>
                <a:spcPts val="0"/>
              </a:spcAft>
              <a:buNone/>
            </a:pPr>
            <a:endParaRPr sz="1900" dirty="0">
              <a:latin typeface="Times New Roman"/>
              <a:ea typeface="Times New Roman"/>
              <a:cs typeface="Times New Roman"/>
              <a:sym typeface="Times New Roman"/>
            </a:endParaRPr>
          </a:p>
          <a:p>
            <a:pPr marL="0" lvl="0" indent="0" algn="l" rtl="0">
              <a:spcBef>
                <a:spcPts val="360"/>
              </a:spcBef>
              <a:spcAft>
                <a:spcPts val="0"/>
              </a:spcAft>
              <a:buClr>
                <a:schemeClr val="dk1"/>
              </a:buClr>
              <a:buSzPts val="1100"/>
              <a:buFont typeface="Arial"/>
              <a:buNone/>
            </a:pPr>
            <a:endParaRPr sz="1900" dirty="0">
              <a:latin typeface="Times New Roman"/>
              <a:ea typeface="Times New Roman"/>
              <a:cs typeface="Times New Roman"/>
              <a:sym typeface="Times New Roman"/>
            </a:endParaRPr>
          </a:p>
          <a:p>
            <a:pPr marL="0" lvl="0" indent="0" algn="l" rtl="0">
              <a:spcBef>
                <a:spcPts val="360"/>
              </a:spcBef>
              <a:spcAft>
                <a:spcPts val="0"/>
              </a:spcAft>
              <a:buClr>
                <a:schemeClr val="dk1"/>
              </a:buClr>
              <a:buSzPts val="1100"/>
              <a:buFont typeface="Arial"/>
              <a:buNone/>
            </a:pPr>
            <a:endParaRPr sz="1900" dirty="0">
              <a:latin typeface="Times New Roman"/>
              <a:ea typeface="Times New Roman"/>
              <a:cs typeface="Times New Roman"/>
              <a:sym typeface="Times New Roman"/>
            </a:endParaRPr>
          </a:p>
          <a:p>
            <a:pPr marL="0" lvl="0" indent="0" algn="l" rtl="0">
              <a:spcBef>
                <a:spcPts val="360"/>
              </a:spcBef>
              <a:spcAft>
                <a:spcPts val="0"/>
              </a:spcAft>
              <a:buNone/>
            </a:pPr>
            <a:endParaRPr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a:spLocks noGrp="1"/>
          </p:cNvSpPr>
          <p:nvPr>
            <p:ph type="title"/>
          </p:nvPr>
        </p:nvSpPr>
        <p:spPr>
          <a:xfrm>
            <a:off x="285720" y="285728"/>
            <a:ext cx="8401080" cy="1143000"/>
          </a:xfrm>
          <a:prstGeom prst="rect">
            <a:avLst/>
          </a:prstGeom>
          <a:noFill/>
          <a:ln>
            <a:noFill/>
          </a:ln>
        </p:spPr>
        <p:txBody>
          <a:bodyPr spcFirstLastPara="1" wrap="square" lIns="91425" tIns="45700" rIns="91425" bIns="45700" anchor="ctr" anchorCtr="0">
            <a:noAutofit/>
          </a:bodyPr>
          <a:lstStyle/>
          <a:p>
            <a:pPr marL="341313" lvl="0" indent="-341313" algn="ctr" rtl="0">
              <a:spcBef>
                <a:spcPts val="0"/>
              </a:spcBef>
              <a:spcAft>
                <a:spcPts val="0"/>
              </a:spcAft>
              <a:buNone/>
            </a:pPr>
            <a:r>
              <a:rPr lang="en-US" sz="2400" b="1" dirty="0">
                <a:solidFill>
                  <a:srgbClr val="000000"/>
                </a:solidFill>
                <a:latin typeface="Times New Roman"/>
                <a:ea typeface="Times New Roman"/>
                <a:cs typeface="Times New Roman"/>
                <a:sym typeface="Times New Roman"/>
              </a:rPr>
              <a:t>PROPOSED SYSTEM</a:t>
            </a:r>
            <a:endParaRPr dirty="0"/>
          </a:p>
        </p:txBody>
      </p:sp>
      <p:sp>
        <p:nvSpPr>
          <p:cNvPr id="165" name="Google Shape;16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9/11/2024</a:t>
            </a:r>
            <a:endParaRPr/>
          </a:p>
        </p:txBody>
      </p:sp>
      <p:sp>
        <p:nvSpPr>
          <p:cNvPr id="166" name="Google Shape;166;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67" name="Google Shape;167;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PCCOER                                                     Computer Engineering</a:t>
            </a:r>
            <a:endParaRPr/>
          </a:p>
        </p:txBody>
      </p:sp>
      <p:pic>
        <p:nvPicPr>
          <p:cNvPr id="168" name="Google Shape;168;p20" descr="PCCOE&amp;R Logo"/>
          <p:cNvPicPr preferRelativeResize="0"/>
          <p:nvPr/>
        </p:nvPicPr>
        <p:blipFill rotWithShape="1">
          <a:blip r:embed="rId3">
            <a:alphaModFix/>
          </a:blip>
          <a:srcRect/>
          <a:stretch/>
        </p:blipFill>
        <p:spPr>
          <a:xfrm>
            <a:off x="7715272" y="285728"/>
            <a:ext cx="1160780" cy="817880"/>
          </a:xfrm>
          <a:prstGeom prst="rect">
            <a:avLst/>
          </a:prstGeom>
          <a:noFill/>
          <a:ln>
            <a:noFill/>
          </a:ln>
        </p:spPr>
      </p:pic>
      <p:sp>
        <p:nvSpPr>
          <p:cNvPr id="169" name="Google Shape;169;p20"/>
          <p:cNvSpPr txBox="1"/>
          <p:nvPr/>
        </p:nvSpPr>
        <p:spPr>
          <a:xfrm>
            <a:off x="457200" y="1654294"/>
            <a:ext cx="7949400" cy="480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A Arduino board uses different capacitive sensor ultrasonic sensor and </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also LED screen to implement the solution a its maximal</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2000">
              <a:solidFill>
                <a:schemeClr val="dk1"/>
              </a:solidFill>
            </a:endParaRPr>
          </a:p>
          <a:p>
            <a:pPr marL="457200" lvl="0" indent="-355600" algn="l" rtl="0">
              <a:spcBef>
                <a:spcPts val="0"/>
              </a:spcBef>
              <a:spcAft>
                <a:spcPts val="0"/>
              </a:spcAft>
              <a:buSzPts val="2000"/>
              <a:buFont typeface="Times New Roman"/>
              <a:buChar char="●"/>
            </a:pPr>
            <a:r>
              <a:rPr lang="en-US" sz="2000" u="sng">
                <a:latin typeface="Times New Roman"/>
                <a:ea typeface="Times New Roman"/>
                <a:cs typeface="Times New Roman"/>
                <a:sym typeface="Times New Roman"/>
              </a:rPr>
              <a:t>Ultrasonic Sensors</a:t>
            </a:r>
            <a:r>
              <a:rPr lang="en-US" sz="2000">
                <a:latin typeface="Times New Roman"/>
                <a:ea typeface="Times New Roman"/>
                <a:cs typeface="Times New Roman"/>
                <a:sym typeface="Times New Roman"/>
              </a:rPr>
              <a:t>: Measure the distance of waste within the bin, working with a servo motor to control the lid's opening and closing.</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en-US" sz="2000" u="sng">
                <a:latin typeface="Times New Roman"/>
                <a:ea typeface="Times New Roman"/>
                <a:cs typeface="Times New Roman"/>
                <a:sym typeface="Times New Roman"/>
              </a:rPr>
              <a:t>Camera Module</a:t>
            </a:r>
            <a:r>
              <a:rPr lang="en-US" sz="2000">
                <a:latin typeface="Times New Roman"/>
                <a:ea typeface="Times New Roman"/>
                <a:cs typeface="Times New Roman"/>
                <a:sym typeface="Times New Roman"/>
              </a:rPr>
              <a:t>: Attached to an Arduino UNO for waste image recognition and classification according to the bin colour.</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en-US" sz="2000" u="sng">
                <a:latin typeface="Times New Roman"/>
                <a:ea typeface="Times New Roman"/>
                <a:cs typeface="Times New Roman"/>
                <a:sym typeface="Times New Roman"/>
              </a:rPr>
              <a:t>Gas Sensor</a:t>
            </a:r>
            <a:r>
              <a:rPr lang="en-US" sz="2000">
                <a:latin typeface="Times New Roman"/>
                <a:ea typeface="Times New Roman"/>
                <a:cs typeface="Times New Roman"/>
                <a:sym typeface="Times New Roman"/>
              </a:rPr>
              <a:t>: Monitors gas levels within the bin, triggering an alert via a buzzer if the gas exceeds a predefined threshold,        indicating the presence of hazardous fumes .</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en-US" sz="2000" u="sng">
                <a:latin typeface="Times New Roman"/>
                <a:ea typeface="Times New Roman"/>
                <a:cs typeface="Times New Roman"/>
                <a:sym typeface="Times New Roman"/>
              </a:rPr>
              <a:t>Buzzer</a:t>
            </a:r>
            <a:r>
              <a:rPr lang="en-US" sz="2000">
                <a:latin typeface="Times New Roman"/>
                <a:ea typeface="Times New Roman"/>
                <a:cs typeface="Times New Roman"/>
                <a:sym typeface="Times New Roman"/>
              </a:rPr>
              <a:t>: Alerts when the bin is filled to capacity.</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en-US" sz="2000" u="sng">
                <a:latin typeface="Times New Roman"/>
                <a:ea typeface="Times New Roman"/>
                <a:cs typeface="Times New Roman"/>
                <a:sym typeface="Times New Roman"/>
              </a:rPr>
              <a:t>GSM Module</a:t>
            </a:r>
            <a:r>
              <a:rPr lang="en-US" sz="2000">
                <a:latin typeface="Times New Roman"/>
                <a:ea typeface="Times New Roman"/>
                <a:cs typeface="Times New Roman"/>
                <a:sym typeface="Times New Roman"/>
              </a:rPr>
              <a:t>: Sends SMS alerts to frontline workers when bins are full or emitting foul odours</a:t>
            </a:r>
            <a:endParaRPr sz="2000">
              <a:latin typeface="Times New Roman"/>
              <a:ea typeface="Times New Roman"/>
              <a:cs typeface="Times New Roman"/>
              <a:sym typeface="Times New Roman"/>
            </a:endParaRPr>
          </a:p>
          <a:p>
            <a:pPr marL="0" lvl="0" indent="0" algn="l" rtl="0">
              <a:spcBef>
                <a:spcPts val="0"/>
              </a:spcBef>
              <a:spcAft>
                <a:spcPts val="0"/>
              </a:spcAft>
              <a:buNone/>
            </a:pPr>
            <a:endParaRPr sz="2000">
              <a:latin typeface="Times New Roman"/>
              <a:ea typeface="Times New Roman"/>
              <a:cs typeface="Times New Roman"/>
              <a:sym typeface="Times New Roman"/>
            </a:endParaRPr>
          </a:p>
          <a:p>
            <a:pPr marL="0" lvl="0" indent="0" algn="l" rtl="0">
              <a:spcBef>
                <a:spcPts val="0"/>
              </a:spcBef>
              <a:spcAft>
                <a:spcPts val="0"/>
              </a:spcAft>
              <a:buNone/>
            </a:pPr>
            <a:endParaRPr sz="20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1"/>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pic>
        <p:nvPicPr>
          <p:cNvPr id="176" name="Google Shape;176;p21"/>
          <p:cNvPicPr preferRelativeResize="0"/>
          <p:nvPr/>
        </p:nvPicPr>
        <p:blipFill>
          <a:blip r:embed="rId3">
            <a:alphaModFix/>
          </a:blip>
          <a:stretch>
            <a:fillRect/>
          </a:stretch>
        </p:blipFill>
        <p:spPr>
          <a:xfrm>
            <a:off x="1827050" y="152400"/>
            <a:ext cx="4726150" cy="655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341313" lvl="0" indent="-341313" algn="ctr" rtl="0">
              <a:lnSpc>
                <a:spcPct val="150000"/>
              </a:lnSpc>
              <a:spcBef>
                <a:spcPts val="0"/>
              </a:spcBef>
              <a:spcAft>
                <a:spcPts val="0"/>
              </a:spcAft>
              <a:buNone/>
            </a:pPr>
            <a:r>
              <a:rPr lang="en-US" sz="2800" b="1" dirty="0">
                <a:solidFill>
                  <a:srgbClr val="000000"/>
                </a:solidFill>
                <a:latin typeface="Times New Roman"/>
                <a:ea typeface="Times New Roman"/>
                <a:cs typeface="Times New Roman"/>
                <a:sym typeface="Times New Roman"/>
              </a:rPr>
              <a:t>FEASIBILITY AND SCOPE </a:t>
            </a:r>
            <a:r>
              <a:rPr lang="en-US" sz="1600" dirty="0">
                <a:solidFill>
                  <a:srgbClr val="000000"/>
                </a:solidFill>
                <a:latin typeface="Times New Roman"/>
                <a:ea typeface="Times New Roman"/>
                <a:cs typeface="Times New Roman"/>
                <a:sym typeface="Times New Roman"/>
              </a:rPr>
              <a:t> </a:t>
            </a:r>
            <a:endParaRPr sz="1600" dirty="0">
              <a:solidFill>
                <a:srgbClr val="000000"/>
              </a:solidFill>
              <a:latin typeface="Times New Roman"/>
              <a:ea typeface="Times New Roman"/>
              <a:cs typeface="Times New Roman"/>
              <a:sym typeface="Times New Roman"/>
            </a:endParaRPr>
          </a:p>
        </p:txBody>
      </p:sp>
      <p:sp>
        <p:nvSpPr>
          <p:cNvPr id="182" name="Google Shape;182;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9/11/2024</a:t>
            </a:r>
            <a:endParaRPr/>
          </a:p>
        </p:txBody>
      </p:sp>
      <p:sp>
        <p:nvSpPr>
          <p:cNvPr id="183" name="Google Shape;18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184" name="Google Shape;184;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PCCOER                                                     Computer Engineering</a:t>
            </a:r>
            <a:endParaRPr/>
          </a:p>
        </p:txBody>
      </p:sp>
      <p:pic>
        <p:nvPicPr>
          <p:cNvPr id="185" name="Google Shape;185;p22" descr="PCCOE&amp;R Logo"/>
          <p:cNvPicPr preferRelativeResize="0"/>
          <p:nvPr/>
        </p:nvPicPr>
        <p:blipFill rotWithShape="1">
          <a:blip r:embed="rId3">
            <a:alphaModFix/>
          </a:blip>
          <a:srcRect/>
          <a:stretch/>
        </p:blipFill>
        <p:spPr>
          <a:xfrm>
            <a:off x="7715272" y="285728"/>
            <a:ext cx="1160780" cy="817880"/>
          </a:xfrm>
          <a:prstGeom prst="rect">
            <a:avLst/>
          </a:prstGeom>
          <a:noFill/>
          <a:ln>
            <a:noFill/>
          </a:ln>
        </p:spPr>
      </p:pic>
      <p:sp>
        <p:nvSpPr>
          <p:cNvPr id="186" name="Google Shape;186;p22"/>
          <p:cNvSpPr txBox="1"/>
          <p:nvPr/>
        </p:nvSpPr>
        <p:spPr>
          <a:xfrm>
            <a:off x="1416000" y="1657050"/>
            <a:ext cx="6312000" cy="44022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2000">
              <a:latin typeface="Times New Roman"/>
              <a:ea typeface="Times New Roman"/>
              <a:cs typeface="Times New Roman"/>
              <a:sym typeface="Times New Roman"/>
            </a:endParaRPr>
          </a:p>
          <a:p>
            <a:pPr marL="457200" lvl="0" indent="0" algn="l" rtl="0">
              <a:spcBef>
                <a:spcPts val="0"/>
              </a:spcBef>
              <a:spcAft>
                <a:spcPts val="0"/>
              </a:spcAft>
              <a:buNone/>
            </a:pPr>
            <a:endParaRPr sz="2000">
              <a:latin typeface="Times New Roman"/>
              <a:ea typeface="Times New Roman"/>
              <a:cs typeface="Times New Roman"/>
              <a:sym typeface="Times New Roman"/>
            </a:endParaRPr>
          </a:p>
          <a:p>
            <a:pPr marL="341312" lvl="0" indent="-341312" algn="l" rtl="0">
              <a:lnSpc>
                <a:spcPct val="150000"/>
              </a:lnSpc>
              <a:spcBef>
                <a:spcPts val="0"/>
              </a:spcBef>
              <a:spcAft>
                <a:spcPts val="0"/>
              </a:spcAft>
              <a:buClr>
                <a:schemeClr val="dk1"/>
              </a:buClr>
              <a:buFont typeface="Arial"/>
              <a:buNone/>
            </a:pPr>
            <a:r>
              <a:rPr lang="en-US" sz="1800" b="1">
                <a:solidFill>
                  <a:schemeClr val="dk1"/>
                </a:solidFill>
                <a:latin typeface="Times New Roman"/>
                <a:ea typeface="Times New Roman"/>
                <a:cs typeface="Times New Roman"/>
                <a:sym typeface="Times New Roman"/>
              </a:rPr>
              <a:t>FEASIBILITY </a:t>
            </a:r>
            <a:endParaRPr sz="1000">
              <a:latin typeface="Times New Roman"/>
              <a:ea typeface="Times New Roman"/>
              <a:cs typeface="Times New Roman"/>
              <a:sym typeface="Times New Roman"/>
            </a:endParaRPr>
          </a:p>
          <a:p>
            <a:pPr marL="457200" lvl="0" indent="0" algn="l" rtl="0">
              <a:spcBef>
                <a:spcPts val="0"/>
              </a:spcBef>
              <a:spcAft>
                <a:spcPts val="0"/>
              </a:spcAft>
              <a:buNone/>
            </a:pPr>
            <a:r>
              <a:rPr lang="en-US" sz="2000">
                <a:latin typeface="Times New Roman"/>
                <a:ea typeface="Times New Roman"/>
                <a:cs typeface="Times New Roman"/>
                <a:sym typeface="Times New Roman"/>
              </a:rPr>
              <a:t>The major advantage of this solution is that it holds a scope of tracking back which may prove to be the biggest stand out feature making the solution a more efficient one</a:t>
            </a:r>
            <a:endParaRPr sz="2000">
              <a:latin typeface="Times New Roman"/>
              <a:ea typeface="Times New Roman"/>
              <a:cs typeface="Times New Roman"/>
              <a:sym typeface="Times New Roman"/>
            </a:endParaRPr>
          </a:p>
          <a:p>
            <a:pPr marL="0" lvl="0" indent="0" algn="l" rtl="0">
              <a:lnSpc>
                <a:spcPct val="150000"/>
              </a:lnSpc>
              <a:spcBef>
                <a:spcPts val="0"/>
              </a:spcBef>
              <a:spcAft>
                <a:spcPts val="0"/>
              </a:spcAft>
              <a:buNone/>
            </a:pPr>
            <a:r>
              <a:rPr lang="en-US" sz="1800" b="1">
                <a:solidFill>
                  <a:schemeClr val="dk1"/>
                </a:solidFill>
                <a:latin typeface="Times New Roman"/>
                <a:ea typeface="Times New Roman"/>
                <a:cs typeface="Times New Roman"/>
                <a:sym typeface="Times New Roman"/>
              </a:rPr>
              <a:t>SCOPE</a:t>
            </a:r>
            <a:endParaRPr sz="1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en-US" sz="2000">
                <a:latin typeface="Times New Roman"/>
                <a:ea typeface="Times New Roman"/>
                <a:cs typeface="Times New Roman"/>
                <a:sym typeface="Times New Roman"/>
              </a:rPr>
              <a:t>Easy to install </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en-US" sz="2000">
                <a:latin typeface="Times New Roman"/>
                <a:ea typeface="Times New Roman"/>
                <a:cs typeface="Times New Roman"/>
                <a:sym typeface="Times New Roman"/>
              </a:rPr>
              <a:t>Portable </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en-US" sz="2000">
                <a:latin typeface="Times New Roman"/>
                <a:ea typeface="Times New Roman"/>
                <a:cs typeface="Times New Roman"/>
                <a:sym typeface="Times New Roman"/>
              </a:rPr>
              <a:t>Easy to develop as its base is already exist </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en-US" sz="2000">
                <a:latin typeface="Times New Roman"/>
                <a:ea typeface="Times New Roman"/>
                <a:cs typeface="Times New Roman"/>
                <a:sym typeface="Times New Roman"/>
              </a:rPr>
              <a:t>Applicable for all the hospitals</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en-US" sz="2000">
                <a:latin typeface="Times New Roman"/>
                <a:ea typeface="Times New Roman"/>
                <a:cs typeface="Times New Roman"/>
                <a:sym typeface="Times New Roman"/>
              </a:rPr>
              <a:t>Easy to maintain</a:t>
            </a:r>
            <a:endParaRPr sz="20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3"/>
          <p:cNvSpPr txBox="1">
            <a:spLocks noGrp="1"/>
          </p:cNvSpPr>
          <p:nvPr>
            <p:ph type="title"/>
          </p:nvPr>
        </p:nvSpPr>
        <p:spPr>
          <a:xfrm>
            <a:off x="457200" y="285725"/>
            <a:ext cx="7870200" cy="1143000"/>
          </a:xfrm>
          <a:prstGeom prst="rect">
            <a:avLst/>
          </a:prstGeom>
          <a:noFill/>
          <a:ln>
            <a:noFill/>
          </a:ln>
        </p:spPr>
        <p:txBody>
          <a:bodyPr spcFirstLastPara="1" wrap="square" lIns="91425" tIns="45700" rIns="91425" bIns="45700" anchor="ctr" anchorCtr="0">
            <a:noAutofit/>
          </a:bodyPr>
          <a:lstStyle/>
          <a:p>
            <a:pPr marL="341313" lvl="0" indent="-341313" algn="ctr" rtl="0">
              <a:lnSpc>
                <a:spcPct val="150000"/>
              </a:lnSpc>
              <a:spcBef>
                <a:spcPts val="0"/>
              </a:spcBef>
              <a:spcAft>
                <a:spcPts val="0"/>
              </a:spcAft>
              <a:buNone/>
            </a:pPr>
            <a:r>
              <a:rPr lang="en-US" sz="3200" b="1">
                <a:latin typeface="Times New Roman"/>
                <a:ea typeface="Times New Roman"/>
                <a:cs typeface="Times New Roman"/>
                <a:sym typeface="Times New Roman"/>
              </a:rPr>
              <a:t>CONCLUSION &amp; FUTURE SCOPE</a:t>
            </a:r>
            <a:endParaRPr/>
          </a:p>
        </p:txBody>
      </p:sp>
      <p:sp>
        <p:nvSpPr>
          <p:cNvPr id="192" name="Google Shape;19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9/11/2024</a:t>
            </a:r>
            <a:endParaRPr/>
          </a:p>
        </p:txBody>
      </p:sp>
      <p:sp>
        <p:nvSpPr>
          <p:cNvPr id="193" name="Google Shape;193;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
        <p:nvSpPr>
          <p:cNvPr id="194" name="Google Shape;194;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PCCOER                                                     Computer Engineering</a:t>
            </a:r>
            <a:endParaRPr/>
          </a:p>
        </p:txBody>
      </p:sp>
      <p:pic>
        <p:nvPicPr>
          <p:cNvPr id="195" name="Google Shape;195;p23" descr="PCCOE&amp;R Logo"/>
          <p:cNvPicPr preferRelativeResize="0"/>
          <p:nvPr/>
        </p:nvPicPr>
        <p:blipFill rotWithShape="1">
          <a:blip r:embed="rId3">
            <a:alphaModFix/>
          </a:blip>
          <a:srcRect/>
          <a:stretch/>
        </p:blipFill>
        <p:spPr>
          <a:xfrm>
            <a:off x="7715272" y="285728"/>
            <a:ext cx="1160780" cy="817880"/>
          </a:xfrm>
          <a:prstGeom prst="rect">
            <a:avLst/>
          </a:prstGeom>
          <a:noFill/>
          <a:ln>
            <a:noFill/>
          </a:ln>
        </p:spPr>
      </p:pic>
      <p:sp>
        <p:nvSpPr>
          <p:cNvPr id="196" name="Google Shape;196;p23"/>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sz="2000">
              <a:latin typeface="Times New Roman"/>
              <a:ea typeface="Times New Roman"/>
              <a:cs typeface="Times New Roman"/>
              <a:sym typeface="Times New Roman"/>
            </a:endParaRPr>
          </a:p>
          <a:p>
            <a:pPr marL="0" lvl="0" indent="0" algn="l" rtl="0">
              <a:spcBef>
                <a:spcPts val="360"/>
              </a:spcBef>
              <a:spcAft>
                <a:spcPts val="0"/>
              </a:spcAft>
              <a:buNone/>
            </a:pPr>
            <a:endParaRPr sz="2000">
              <a:latin typeface="Times New Roman"/>
              <a:ea typeface="Times New Roman"/>
              <a:cs typeface="Times New Roman"/>
              <a:sym typeface="Times New Roman"/>
            </a:endParaRPr>
          </a:p>
          <a:p>
            <a:pPr marL="341312" lvl="0" indent="-341312" algn="l" rtl="0">
              <a:lnSpc>
                <a:spcPct val="150000"/>
              </a:lnSpc>
              <a:spcBef>
                <a:spcPts val="0"/>
              </a:spcBef>
              <a:spcAft>
                <a:spcPts val="0"/>
              </a:spcAft>
              <a:buNone/>
            </a:pPr>
            <a:r>
              <a:rPr lang="en-US" sz="1800" b="1">
                <a:latin typeface="Times New Roman"/>
                <a:ea typeface="Times New Roman"/>
                <a:cs typeface="Times New Roman"/>
                <a:sym typeface="Times New Roman"/>
              </a:rPr>
              <a:t>CONCLUSION</a:t>
            </a:r>
            <a:endParaRPr sz="600">
              <a:latin typeface="Times New Roman"/>
              <a:ea typeface="Times New Roman"/>
              <a:cs typeface="Times New Roman"/>
              <a:sym typeface="Times New Roman"/>
            </a:endParaRPr>
          </a:p>
          <a:p>
            <a:pPr marL="0" lvl="0" indent="0" algn="l" rtl="0">
              <a:spcBef>
                <a:spcPts val="360"/>
              </a:spcBef>
              <a:spcAft>
                <a:spcPts val="0"/>
              </a:spcAft>
              <a:buNone/>
            </a:pPr>
            <a:r>
              <a:rPr lang="en-US" sz="2000">
                <a:latin typeface="Times New Roman"/>
                <a:ea typeface="Times New Roman"/>
                <a:cs typeface="Times New Roman"/>
                <a:sym typeface="Times New Roman"/>
              </a:rPr>
              <a:t>This IoT-enabled system ensures proper waste segregation, treatment, and disposal ,Enhancing safety for healthcare employees, patients, and the environment</a:t>
            </a:r>
            <a:endParaRPr sz="2000">
              <a:latin typeface="Times New Roman"/>
              <a:ea typeface="Times New Roman"/>
              <a:cs typeface="Times New Roman"/>
              <a:sym typeface="Times New Roman"/>
            </a:endParaRPr>
          </a:p>
          <a:p>
            <a:pPr marL="341312" lvl="0" indent="-341312" algn="l" rtl="0">
              <a:lnSpc>
                <a:spcPct val="150000"/>
              </a:lnSpc>
              <a:spcBef>
                <a:spcPts val="0"/>
              </a:spcBef>
              <a:spcAft>
                <a:spcPts val="0"/>
              </a:spcAft>
              <a:buNone/>
            </a:pPr>
            <a:r>
              <a:rPr lang="en-US" b="1">
                <a:latin typeface="Times New Roman"/>
                <a:ea typeface="Times New Roman"/>
                <a:cs typeface="Times New Roman"/>
                <a:sym typeface="Times New Roman"/>
              </a:rPr>
              <a:t> </a:t>
            </a:r>
            <a:r>
              <a:rPr lang="en-US" sz="1800" b="1">
                <a:latin typeface="Times New Roman"/>
                <a:ea typeface="Times New Roman"/>
                <a:cs typeface="Times New Roman"/>
                <a:sym typeface="Times New Roman"/>
              </a:rPr>
              <a:t>FUTURE SCOPE</a:t>
            </a:r>
            <a:endParaRPr sz="600" b="1">
              <a:latin typeface="Times New Roman"/>
              <a:ea typeface="Times New Roman"/>
              <a:cs typeface="Times New Roman"/>
              <a:sym typeface="Times New Roman"/>
            </a:endParaRPr>
          </a:p>
          <a:p>
            <a:pPr marL="457200" lvl="0" indent="-355600" algn="l" rtl="0">
              <a:spcBef>
                <a:spcPts val="360"/>
              </a:spcBef>
              <a:spcAft>
                <a:spcPts val="0"/>
              </a:spcAft>
              <a:buSzPts val="2000"/>
              <a:buFont typeface="Times New Roman"/>
              <a:buChar char="•"/>
            </a:pPr>
            <a:r>
              <a:rPr lang="en-US" sz="2000">
                <a:latin typeface="Times New Roman"/>
                <a:ea typeface="Times New Roman"/>
                <a:cs typeface="Times New Roman"/>
                <a:sym typeface="Times New Roman"/>
              </a:rPr>
              <a:t>Efficient waste segregation </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en-US" sz="2000">
                <a:latin typeface="Times New Roman"/>
                <a:ea typeface="Times New Roman"/>
                <a:cs typeface="Times New Roman"/>
                <a:sym typeface="Times New Roman"/>
              </a:rPr>
              <a:t>Easier for collector to collect out the waste </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en-US" sz="2000">
                <a:latin typeface="Times New Roman"/>
                <a:ea typeface="Times New Roman"/>
                <a:cs typeface="Times New Roman"/>
                <a:sym typeface="Times New Roman"/>
              </a:rPr>
              <a:t>Ease the tracking back of waste production </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en-US" sz="2000">
                <a:latin typeface="Times New Roman"/>
                <a:ea typeface="Times New Roman"/>
                <a:cs typeface="Times New Roman"/>
                <a:sym typeface="Times New Roman"/>
              </a:rPr>
              <a:t>Encourages society to adopt other sustainable practice </a:t>
            </a:r>
            <a:endParaRPr sz="2000">
              <a:latin typeface="Times New Roman"/>
              <a:ea typeface="Times New Roman"/>
              <a:cs typeface="Times New Roman"/>
              <a:sym typeface="Times New Roman"/>
            </a:endParaRPr>
          </a:p>
          <a:p>
            <a:pPr marL="0" lvl="0" indent="0" algn="l" rtl="0">
              <a:spcBef>
                <a:spcPts val="360"/>
              </a:spcBef>
              <a:spcAft>
                <a:spcPts val="0"/>
              </a:spcAft>
              <a:buNone/>
            </a:pPr>
            <a:endParaRPr sz="20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US" sz="3200" b="1">
                <a:solidFill>
                  <a:srgbClr val="10478B"/>
                </a:solidFill>
                <a:latin typeface="Times New Roman"/>
                <a:ea typeface="Times New Roman"/>
                <a:cs typeface="Times New Roman"/>
                <a:sym typeface="Times New Roman"/>
              </a:rPr>
              <a:t> </a:t>
            </a:r>
            <a:r>
              <a:rPr lang="en-US" sz="3200" b="1">
                <a:latin typeface="Times New Roman"/>
                <a:ea typeface="Times New Roman"/>
                <a:cs typeface="Times New Roman"/>
                <a:sym typeface="Times New Roman"/>
              </a:rPr>
              <a:t>REFERENCES</a:t>
            </a:r>
            <a:endParaRPr sz="3200" b="1">
              <a:solidFill>
                <a:srgbClr val="10478B"/>
              </a:solidFill>
              <a:latin typeface="Times New Roman"/>
              <a:ea typeface="Times New Roman"/>
              <a:cs typeface="Times New Roman"/>
              <a:sym typeface="Times New Roman"/>
            </a:endParaRPr>
          </a:p>
        </p:txBody>
      </p:sp>
      <p:sp>
        <p:nvSpPr>
          <p:cNvPr id="202" name="Google Shape;202;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9/11/2024</a:t>
            </a:r>
            <a:endParaRPr/>
          </a:p>
        </p:txBody>
      </p:sp>
      <p:sp>
        <p:nvSpPr>
          <p:cNvPr id="203" name="Google Shape;20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
        <p:nvSpPr>
          <p:cNvPr id="204" name="Google Shape;204;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PCCOER                                                     Computer Engineering</a:t>
            </a:r>
            <a:endParaRPr/>
          </a:p>
        </p:txBody>
      </p:sp>
      <p:sp>
        <p:nvSpPr>
          <p:cNvPr id="205" name="Google Shape;205;p24"/>
          <p:cNvSpPr txBox="1">
            <a:spLocks noGrp="1"/>
          </p:cNvSpPr>
          <p:nvPr>
            <p:ph type="body" idx="1"/>
          </p:nvPr>
        </p:nvSpPr>
        <p:spPr>
          <a:xfrm>
            <a:off x="457200" y="1623950"/>
            <a:ext cx="8229600" cy="4526100"/>
          </a:xfrm>
          <a:prstGeom prst="rect">
            <a:avLst/>
          </a:prstGeom>
        </p:spPr>
        <p:txBody>
          <a:bodyPr spcFirstLastPara="1" wrap="square" lIns="91425" tIns="45700" rIns="91425" bIns="45700" anchor="t" anchorCtr="0">
            <a:noAutofit/>
          </a:bodyPr>
          <a:lstStyle/>
          <a:p>
            <a:pPr marL="457200" marR="111658" lvl="0" indent="-355600" algn="l" rtl="0">
              <a:lnSpc>
                <a:spcPct val="103292"/>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Ramdoss Prabha  and Venkatesh Ramani, “IoT based smart healthcare monitoring system using IOT  component WSN.</a:t>
            </a:r>
            <a:endParaRPr sz="2000">
              <a:latin typeface="Times New Roman"/>
              <a:ea typeface="Times New Roman"/>
              <a:cs typeface="Times New Roman"/>
              <a:sym typeface="Times New Roman"/>
            </a:endParaRPr>
          </a:p>
          <a:p>
            <a:pPr marL="457200" marR="111658" lvl="0" indent="-355600" algn="l" rtl="0">
              <a:lnSpc>
                <a:spcPct val="103292"/>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Pandey, Atul &amp; Sahu, Rohit &amp; Tyagi, Ram. (2019). A RESEARCH STUDY ON WASTE SEGREGATION AT SOURCE IS THE KEY IN MUNICIPAL SOLID WASTE MANAGEMENT IN DELHI.</a:t>
            </a:r>
            <a:endParaRPr sz="2000">
              <a:latin typeface="Times New Roman"/>
              <a:ea typeface="Times New Roman"/>
              <a:cs typeface="Times New Roman"/>
              <a:sym typeface="Times New Roman"/>
            </a:endParaRPr>
          </a:p>
          <a:p>
            <a:pPr marL="457200" marR="111658" lvl="0" indent="-355600" algn="l" rtl="0">
              <a:lnSpc>
                <a:spcPct val="103292"/>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Hewagamage, Pasindu &amp; Mihiranga, Amith &amp; Perera, Dananjaya &amp; Fernando, Rahul &amp; Thilakarathna, Thusitha Anjana &amp; Kasthurirathna, Dharshana. (2021). SMART Garbage Bin Kit: Expandable and Intelligent Waste Management System using Deep Learning and IoT for Modern Organizations. 165-170. 10.1109/ICter53630.2021.9774824.</a:t>
            </a:r>
            <a:endParaRPr sz="2000">
              <a:latin typeface="Times New Roman"/>
              <a:ea typeface="Times New Roman"/>
              <a:cs typeface="Times New Roman"/>
              <a:sym typeface="Times New Roman"/>
            </a:endParaRPr>
          </a:p>
          <a:p>
            <a:pPr marL="0" lvl="0" indent="0" algn="l" rtl="0">
              <a:spcBef>
                <a:spcPts val="360"/>
              </a:spcBef>
              <a:spcAft>
                <a:spcPts val="0"/>
              </a:spcAft>
              <a:buNone/>
            </a:pP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5"/>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
        <p:nvSpPr>
          <p:cNvPr id="212" name="Google Shape;212;p25"/>
          <p:cNvSpPr txBox="1">
            <a:spLocks noGrp="1"/>
          </p:cNvSpPr>
          <p:nvPr>
            <p:ph type="body" idx="1"/>
          </p:nvPr>
        </p:nvSpPr>
        <p:spPr>
          <a:xfrm>
            <a:off x="457200" y="1417650"/>
            <a:ext cx="8229600" cy="4708800"/>
          </a:xfrm>
          <a:prstGeom prst="rect">
            <a:avLst/>
          </a:prstGeom>
        </p:spPr>
        <p:txBody>
          <a:bodyPr spcFirstLastPara="1" wrap="square" lIns="91425" tIns="45700" rIns="91425" bIns="45700" anchor="t" anchorCtr="0">
            <a:noAutofit/>
          </a:bodyPr>
          <a:lstStyle/>
          <a:p>
            <a:pPr marL="457200" marR="111658" lvl="0" indent="-355600" algn="l" rtl="0">
              <a:lnSpc>
                <a:spcPct val="103292"/>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Lim-Wavde, Kustini &amp; Kauffman, Robert &amp; Dawson, Gregory. (2017). Household informedness and policy analytics for the collection and recycling of household hazardous waste in California. Resources, Conservation and Recycling. 10.1016/j.resconrec.2016.10.007.</a:t>
            </a:r>
            <a:endParaRPr sz="2000">
              <a:latin typeface="Times New Roman"/>
              <a:ea typeface="Times New Roman"/>
              <a:cs typeface="Times New Roman"/>
              <a:sym typeface="Times New Roman"/>
            </a:endParaRPr>
          </a:p>
          <a:p>
            <a:pPr marL="457200" marR="111658" lvl="0" indent="-355600" algn="l" rtl="0">
              <a:lnSpc>
                <a:spcPct val="103292"/>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Goel, Sudha. (2008). Municipal solid waste management (MSWM) in India A critical review. Journal of environmental science &amp; engineering. 50. 319-28.</a:t>
            </a:r>
            <a:endParaRPr sz="2000">
              <a:latin typeface="Times New Roman"/>
              <a:ea typeface="Times New Roman"/>
              <a:cs typeface="Times New Roman"/>
              <a:sym typeface="Times New Roman"/>
            </a:endParaRPr>
          </a:p>
          <a:p>
            <a:pPr marL="457200" marR="111658" lvl="0" indent="-355600" algn="l" rtl="0">
              <a:lnSpc>
                <a:spcPct val="103292"/>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Wirani, Yekti &amp; Eitiveni, Imairi &amp; Sucahyo, Yudho. (2024). Framework of Smart and Integrated Household Waste Management System: A Systematic Literature Review Using PRISMA. 10.20944/preprints202405.0297.v1.</a:t>
            </a:r>
            <a:endParaRPr sz="2000">
              <a:latin typeface="Times New Roman"/>
              <a:ea typeface="Times New Roman"/>
              <a:cs typeface="Times New Roman"/>
              <a:sym typeface="Times New Roman"/>
            </a:endParaRPr>
          </a:p>
          <a:p>
            <a:pPr marL="457200" marR="111658" lvl="0" indent="-355600" algn="l" rtl="0">
              <a:lnSpc>
                <a:spcPct val="103292"/>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El-Kanj, Hania &amp; Abdulqader, Fawaz &amp; Albannai, Abdullah &amp; Alarbash, Abdulhamid &amp; Aldaihani, Mansour. (2023). An IoT Based Smart Waste Management System with Built-in Segregation Feature.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1313" lvl="0" indent="-341313" algn="just" rtl="0">
              <a:lnSpc>
                <a:spcPct val="150000"/>
              </a:lnSpc>
              <a:spcBef>
                <a:spcPts val="0"/>
              </a:spcBef>
              <a:spcAft>
                <a:spcPts val="0"/>
              </a:spcAft>
              <a:buClr>
                <a:srgbClr val="996666"/>
              </a:buClr>
              <a:buSzPts val="2560"/>
              <a:buNone/>
            </a:pPr>
            <a:r>
              <a:rPr lang="en-US">
                <a:solidFill>
                  <a:srgbClr val="000000"/>
                </a:solidFill>
                <a:latin typeface="Times New Roman"/>
                <a:ea typeface="Times New Roman"/>
                <a:cs typeface="Times New Roman"/>
                <a:sym typeface="Times New Roman"/>
              </a:rPr>
              <a:t>Conference attended certificate/Survey paper acceptance letter /Copyright information</a:t>
            </a:r>
            <a:endParaRPr/>
          </a:p>
          <a:p>
            <a:pPr marL="341313" lvl="0" indent="-178753" algn="just" rtl="0">
              <a:lnSpc>
                <a:spcPct val="150000"/>
              </a:lnSpc>
              <a:spcBef>
                <a:spcPts val="800"/>
              </a:spcBef>
              <a:spcAft>
                <a:spcPts val="0"/>
              </a:spcAft>
              <a:buClr>
                <a:srgbClr val="996666"/>
              </a:buClr>
              <a:buSzPts val="2560"/>
              <a:buFont typeface="Noto Sans Symbols"/>
              <a:buNone/>
            </a:pPr>
            <a:endParaRPr>
              <a:solidFill>
                <a:srgbClr val="000000"/>
              </a:solidFill>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a:p>
        </p:txBody>
      </p:sp>
      <p:sp>
        <p:nvSpPr>
          <p:cNvPr id="218" name="Google Shape;218;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9/11/2024</a:t>
            </a:r>
            <a:endParaRPr/>
          </a:p>
        </p:txBody>
      </p:sp>
      <p:sp>
        <p:nvSpPr>
          <p:cNvPr id="219" name="Google Shape;219;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220" name="Google Shape;22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PCCOER                                                     Computer Engineering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5400"/>
              <a:buFont typeface="Noto Sans Symbols"/>
              <a:buNone/>
            </a:pPr>
            <a:r>
              <a:rPr lang="en-US" sz="5400">
                <a:latin typeface="Times New Roman"/>
                <a:ea typeface="Times New Roman"/>
                <a:cs typeface="Times New Roman"/>
                <a:sym typeface="Times New Roman"/>
              </a:rPr>
              <a:t>	</a:t>
            </a:r>
            <a:endParaRPr/>
          </a:p>
          <a:p>
            <a:pPr marL="342900" lvl="0" indent="-342900" algn="l" rtl="0">
              <a:spcBef>
                <a:spcPts val="1080"/>
              </a:spcBef>
              <a:spcAft>
                <a:spcPts val="0"/>
              </a:spcAft>
              <a:buClr>
                <a:schemeClr val="dk1"/>
              </a:buClr>
              <a:buSzPts val="5400"/>
              <a:buFont typeface="Noto Sans Symbols"/>
              <a:buNone/>
            </a:pPr>
            <a:endParaRPr sz="5400">
              <a:latin typeface="Times New Roman"/>
              <a:ea typeface="Times New Roman"/>
              <a:cs typeface="Times New Roman"/>
              <a:sym typeface="Times New Roman"/>
            </a:endParaRPr>
          </a:p>
        </p:txBody>
      </p:sp>
      <p:sp>
        <p:nvSpPr>
          <p:cNvPr id="226" name="Google Shape;226;p27"/>
          <p:cNvSpPr/>
          <p:nvPr/>
        </p:nvSpPr>
        <p:spPr>
          <a:xfrm>
            <a:off x="2500298" y="2857496"/>
            <a:ext cx="4346383"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00000"/>
              </a:buClr>
              <a:buSzPts val="5400"/>
              <a:buFont typeface="Times New Roman"/>
              <a:buNone/>
            </a:pPr>
            <a:r>
              <a:rPr lang="en-US" sz="5400" b="1" i="0" u="none" strike="noStrike" cap="none">
                <a:solidFill>
                  <a:schemeClr val="dk1"/>
                </a:solidFill>
                <a:latin typeface="Arial"/>
                <a:ea typeface="Arial"/>
                <a:cs typeface="Arial"/>
                <a:sym typeface="Arial"/>
              </a:rPr>
              <a:t>THANK YOU</a:t>
            </a:r>
            <a:endParaRPr sz="5400" b="1" i="0" u="none" strike="noStrike" cap="none">
              <a:solidFill>
                <a:schemeClr val="dk1"/>
              </a:solidFill>
              <a:latin typeface="Arial"/>
              <a:ea typeface="Arial"/>
              <a:cs typeface="Arial"/>
              <a:sym typeface="Arial"/>
            </a:endParaRPr>
          </a:p>
        </p:txBody>
      </p:sp>
      <p:sp>
        <p:nvSpPr>
          <p:cNvPr id="227" name="Google Shape;227;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9/11/2024</a:t>
            </a:r>
            <a:endParaRPr/>
          </a:p>
        </p:txBody>
      </p:sp>
      <p:sp>
        <p:nvSpPr>
          <p:cNvPr id="228" name="Google Shape;228;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229" name="Google Shape;229;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PCCOER                                                     Computer Engineering</a:t>
            </a:r>
            <a:endParaRPr/>
          </a:p>
        </p:txBody>
      </p:sp>
    </p:spTree>
  </p:cSld>
  <p:clrMapOvr>
    <a:masterClrMapping/>
  </p:clrMapOvr>
</p:sld>
</file>

<file path=ppt/theme/theme1.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1055</Words>
  <Application>Microsoft Office PowerPoint</Application>
  <PresentationFormat>On-screen Show (4:3)</PresentationFormat>
  <Paragraphs>144</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Noto Sans Symbols</vt:lpstr>
      <vt:lpstr>Times New Roman</vt:lpstr>
      <vt:lpstr>4_Office Theme</vt:lpstr>
      <vt:lpstr>PowerPoint Presentation</vt:lpstr>
      <vt:lpstr>INTRODUCTION</vt:lpstr>
      <vt:lpstr>LITERATURE SURVEY</vt:lpstr>
      <vt:lpstr>PROBLEM STATEMENT &amp; OBJECTIVES</vt:lpstr>
      <vt:lpstr>EXISTING SYSTEM </vt:lpstr>
      <vt:lpstr>EXISTING SYSTEM</vt:lpstr>
      <vt:lpstr>PROPOSED SYSTEM</vt:lpstr>
      <vt:lpstr>PowerPoint Presentation</vt:lpstr>
      <vt:lpstr>FEASIBILITY AND SCOPE  </vt:lpstr>
      <vt:lpstr>CONCLUSION &amp; FUTURE SCOPE</vt:lpstr>
      <vt:lpstr> 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Om Gujar</cp:lastModifiedBy>
  <cp:revision>1</cp:revision>
  <dcterms:modified xsi:type="dcterms:W3CDTF">2024-09-20T07:55:43Z</dcterms:modified>
</cp:coreProperties>
</file>